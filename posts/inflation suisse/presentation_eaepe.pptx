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>
        <p:scale>
          <a:sx n="100" d="100"/>
          <a:sy n="100" d="100"/>
        </p:scale>
        <p:origin x="2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A13D6-403A-363B-AD01-2D637ACAA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7F44159-54AE-51BA-8AF2-209BA0AE4E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F9699D-4168-0094-094C-0506189C4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863C-FB7A-4838-98F0-5ACD1BCB1DB5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407E9A-06DD-370C-D53F-672AE166D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3CF80A-9E88-4E4C-EF1F-88CCFB163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60CA-67EE-42A7-AC3D-A75E520FFAE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4320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B82CC5-E63A-E6FC-2E94-152FE6A9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9EA5DC-DD6D-88E3-FCCB-ECAD5B34A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3EA965-B923-5B16-61F9-D26795C20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863C-FB7A-4838-98F0-5ACD1BCB1DB5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2C54A2-4855-6E89-9EF4-FCB71E9E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B93973-0026-436D-DD24-37EB95D9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60CA-67EE-42A7-AC3D-A75E520FFAE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99891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C186D-51F2-60B6-FF83-A12CB4CE6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C7F5E91-E93A-E466-A842-4A71C71D5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7C0F13-987A-071A-CF34-14C6B9C1B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863C-FB7A-4838-98F0-5ACD1BCB1DB5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23B683-0A93-4C45-0348-3D6DD625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54ED81-0FD0-1EF9-DBE8-C262C23C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60CA-67EE-42A7-AC3D-A75E520FFAE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55978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8CA9AD-3129-396C-BAC3-628BA117F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F085A0-B5CA-8F88-CE71-A9DD491D4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0F6A5C9-87D1-BFD8-CF91-17B2D18D9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E65DA3-8FCB-E791-8733-E120C8A84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863C-FB7A-4838-98F0-5ACD1BCB1DB5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8496F20-BD6C-A38C-7ADD-DEC932A9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0B3E13-6629-5CFB-E932-8C552080C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60CA-67EE-42A7-AC3D-A75E520FFAE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50063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3C841C-E806-76CE-7D44-A473B9194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BFE1F1-0326-7478-D337-71A8982A7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9AF7315-3F12-6B4A-5B44-65C65A668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0058E99-2AF8-12F6-A242-D7F189052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33CA310-A675-0A90-5A3D-09029F5B70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22376E2-8599-C387-FE48-9335334B2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863C-FB7A-4838-98F0-5ACD1BCB1DB5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D4BBF02-5A1F-6C00-A40E-EC6C728E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90BD602-C3C5-552D-046A-CBDE22A90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60CA-67EE-42A7-AC3D-A75E520FFAE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29352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A70EA8-B580-9BE5-D955-DB5735C36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2DCEE40-48A4-ACBB-B095-E0476AA25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863C-FB7A-4838-98F0-5ACD1BCB1DB5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F755887-A59C-E326-9D86-7C5E7A4B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377FD2A-F79C-8CB8-9E31-1830D252F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60CA-67EE-42A7-AC3D-A75E520FFAE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92877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F253F25-6BF2-1B54-B660-31FA252A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863C-FB7A-4838-98F0-5ACD1BCB1DB5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CC1ACA4-EA85-6CCF-2DF7-CAD02E849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8FE598-BA05-4CE8-0042-4B3D8135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60CA-67EE-42A7-AC3D-A75E520FFAE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81334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ABDCA6-4EB3-2809-B517-EEF7472BA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0228A6-D061-073A-F70C-EF96FC841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8D5BCBA-4AB5-DDC7-60DC-768A14AA9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2DD300-A531-8887-ADA8-B236EEE8E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863C-FB7A-4838-98F0-5ACD1BCB1DB5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FC21C5-448E-EEE1-ED9F-24453DB1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6237CE-A876-8BDD-D681-DC7F0F481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60CA-67EE-42A7-AC3D-A75E520FFAE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29182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EA908D-6AF8-8D1F-FEB4-AED0EBF41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AB296B3-78CC-7487-5516-FAE5730A0A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92389DF-51C7-BCEC-2B4D-00F0A8C31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BC0062-6927-B258-3E00-49D5212B6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863C-FB7A-4838-98F0-5ACD1BCB1DB5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81A0AF-AAF9-6851-5FFA-290B6BFB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AE3B13-14B2-1EF4-4332-F72841D2F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60CA-67EE-42A7-AC3D-A75E520FFAE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2584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2DB38-08E8-02D8-0FDD-3C4B462F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1240B3-A3D5-0FC0-A627-F348B36E3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C9E607-B98A-D1C2-E3F9-8874B9B3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863C-FB7A-4838-98F0-5ACD1BCB1DB5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EE5161-EED5-ECBC-3630-192120CAC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A98D1A-C6C1-44E6-381D-B85FD4E2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60CA-67EE-42A7-AC3D-A75E520FFAE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090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C8B8062-D7A0-6672-88C0-264D550BC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C29461B-BB9A-CCB2-C640-4ECAA8C63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5F9D12-317D-AB3E-156F-57C422CEA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863C-FB7A-4838-98F0-5ACD1BCB1DB5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2B69FC-8EC3-D17C-DE94-E2662177F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D12646-8F5B-1DA1-A0A4-92A2EBB6F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60CA-67EE-42A7-AC3D-A75E520FFAE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1044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4958F5F-9AE1-E8B3-375C-9216C72B5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CD01E1-789E-C4EC-4919-B01B301C2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4B44A-6C44-8712-ABAD-77D3AF057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87863C-FB7A-4838-98F0-5ACD1BCB1DB5}" type="datetimeFigureOut">
              <a:rPr lang="fr-CH" smtClean="0"/>
              <a:t>09.09.2026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29EFC6-6E26-8627-0604-CFCC48A62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A1DA92-1AAC-2793-C260-AE3276C9A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4B60CA-67EE-42A7-AC3D-A75E520FFAE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3771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E409D9-C9B0-E349-BEEB-A68C2D78FD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CH" dirty="0"/>
              <a:t>Inflation in an Island of High </a:t>
            </a:r>
            <a:r>
              <a:rPr lang="fr-CH" dirty="0" err="1"/>
              <a:t>Prices</a:t>
            </a:r>
            <a:r>
              <a:rPr lang="fr-CH" dirty="0"/>
              <a:t>. The </a:t>
            </a:r>
            <a:r>
              <a:rPr lang="fr-CH" dirty="0" err="1"/>
              <a:t>Factors</a:t>
            </a:r>
            <a:r>
              <a:rPr lang="fr-CH" dirty="0"/>
              <a:t> </a:t>
            </a:r>
            <a:r>
              <a:rPr lang="fr-CH" dirty="0" err="1"/>
              <a:t>behind</a:t>
            </a:r>
            <a:r>
              <a:rPr lang="fr-CH" dirty="0"/>
              <a:t> Price </a:t>
            </a:r>
            <a:r>
              <a:rPr lang="fr-CH" dirty="0" err="1"/>
              <a:t>Stability</a:t>
            </a:r>
            <a:r>
              <a:rPr lang="fr-CH" dirty="0"/>
              <a:t> in </a:t>
            </a:r>
            <a:r>
              <a:rPr lang="fr-CH" dirty="0" err="1"/>
              <a:t>Switzerland</a:t>
            </a:r>
            <a:endParaRPr lang="fr-CH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BCE4CF-17EC-4ACE-F0CB-AA7B92524F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dirty="0" err="1"/>
              <a:t>Celâl</a:t>
            </a:r>
            <a:r>
              <a:rPr lang="fr-CH" dirty="0"/>
              <a:t> Güney, Michalis Nikiforos, Guillaume Dreyer</a:t>
            </a:r>
          </a:p>
        </p:txBody>
      </p:sp>
    </p:spTree>
    <p:extLst>
      <p:ext uri="{BB962C8B-B14F-4D97-AF65-F5344CB8AC3E}">
        <p14:creationId xmlns:p14="http://schemas.microsoft.com/office/powerpoint/2010/main" val="49331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38FA6F-530D-0FC5-0878-81E792F43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Research</a:t>
            </a:r>
            <a:r>
              <a:rPr lang="fr-CH" dirty="0"/>
              <a:t> Question: </a:t>
            </a:r>
            <a:r>
              <a:rPr lang="fr-CH" dirty="0" err="1"/>
              <a:t>why</a:t>
            </a:r>
            <a:r>
              <a:rPr lang="fr-CH" dirty="0"/>
              <a:t> </a:t>
            </a:r>
            <a:r>
              <a:rPr lang="fr-CH" dirty="0" err="1"/>
              <a:t>does</a:t>
            </a:r>
            <a:r>
              <a:rPr lang="fr-CH" dirty="0"/>
              <a:t> </a:t>
            </a:r>
            <a:r>
              <a:rPr lang="fr-CH" dirty="0" err="1"/>
              <a:t>Switzerland</a:t>
            </a:r>
            <a:r>
              <a:rPr lang="fr-CH" dirty="0"/>
              <a:t> have </a:t>
            </a:r>
            <a:r>
              <a:rPr lang="fr-CH" dirty="0" err="1"/>
              <a:t>lower</a:t>
            </a:r>
            <a:r>
              <a:rPr lang="fr-CH" dirty="0"/>
              <a:t> inflation rates ?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CCED598-F00D-A157-72A9-39B65B3507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690687"/>
            <a:ext cx="6581775" cy="4259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7443568-3431-4CFD-ACA2-03020E9B9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310" y="1690687"/>
            <a:ext cx="4650858" cy="4802187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53F242B-4266-D1DA-42DC-84E6551F19CD}"/>
              </a:ext>
            </a:extLst>
          </p:cNvPr>
          <p:cNvSpPr txBox="1"/>
          <p:nvPr/>
        </p:nvSpPr>
        <p:spPr>
          <a:xfrm>
            <a:off x="1200150" y="5949997"/>
            <a:ext cx="30194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50" dirty="0"/>
              <a:t>National CPI indices, source: OECD</a:t>
            </a:r>
          </a:p>
        </p:txBody>
      </p:sp>
    </p:spTree>
    <p:extLst>
      <p:ext uri="{BB962C8B-B14F-4D97-AF65-F5344CB8AC3E}">
        <p14:creationId xmlns:p14="http://schemas.microsoft.com/office/powerpoint/2010/main" val="118087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A6C2B9-F13C-5A71-4806-2C338AFC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Structure of the </a:t>
            </a:r>
            <a:r>
              <a:rPr lang="fr-CH" dirty="0" err="1"/>
              <a:t>paper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89F813-DF1F-CD28-79F5-0E3DD6CFD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H" dirty="0"/>
              <a:t>Introduction</a:t>
            </a:r>
          </a:p>
          <a:p>
            <a:pPr lvl="1"/>
            <a:r>
              <a:rPr lang="fr-CH" dirty="0"/>
              <a:t> Main </a:t>
            </a:r>
            <a:r>
              <a:rPr lang="fr-CH" dirty="0" err="1"/>
              <a:t>stylized</a:t>
            </a:r>
            <a:r>
              <a:rPr lang="fr-CH" dirty="0"/>
              <a:t> </a:t>
            </a:r>
            <a:r>
              <a:rPr lang="fr-CH" dirty="0" err="1"/>
              <a:t>facts</a:t>
            </a:r>
            <a:r>
              <a:rPr lang="fr-CH" dirty="0"/>
              <a:t> on Swiss </a:t>
            </a:r>
            <a:r>
              <a:rPr lang="fr-CH" dirty="0" err="1"/>
              <a:t>prices</a:t>
            </a:r>
            <a:r>
              <a:rPr lang="fr-CH" dirty="0"/>
              <a:t>: </a:t>
            </a:r>
            <a:r>
              <a:rPr lang="fr-CH" dirty="0" err="1"/>
              <a:t>low</a:t>
            </a:r>
            <a:r>
              <a:rPr lang="fr-CH" dirty="0"/>
              <a:t> inflation </a:t>
            </a:r>
            <a:r>
              <a:rPr lang="fr-CH" dirty="0" err="1"/>
              <a:t>combined</a:t>
            </a:r>
            <a:r>
              <a:rPr lang="fr-CH" dirty="0"/>
              <a:t> </a:t>
            </a:r>
            <a:r>
              <a:rPr lang="fr-CH" dirty="0" err="1"/>
              <a:t>with</a:t>
            </a:r>
            <a:r>
              <a:rPr lang="fr-CH" dirty="0"/>
              <a:t> a </a:t>
            </a:r>
            <a:r>
              <a:rPr lang="fr-CH" dirty="0" err="1"/>
              <a:t>very</a:t>
            </a:r>
            <a:r>
              <a:rPr lang="fr-CH" dirty="0"/>
              <a:t> high </a:t>
            </a:r>
            <a:r>
              <a:rPr lang="fr-CH" dirty="0" err="1"/>
              <a:t>price</a:t>
            </a:r>
            <a:r>
              <a:rPr lang="fr-CH" dirty="0"/>
              <a:t> </a:t>
            </a:r>
            <a:r>
              <a:rPr lang="fr-CH" dirty="0" err="1"/>
              <a:t>level</a:t>
            </a:r>
            <a:endParaRPr lang="fr-CH" dirty="0"/>
          </a:p>
          <a:p>
            <a:r>
              <a:rPr lang="fr-CH" dirty="0" err="1"/>
              <a:t>Literature</a:t>
            </a:r>
            <a:r>
              <a:rPr lang="fr-CH" dirty="0"/>
              <a:t> </a:t>
            </a:r>
            <a:r>
              <a:rPr lang="fr-CH" dirty="0" err="1"/>
              <a:t>review</a:t>
            </a:r>
            <a:r>
              <a:rPr lang="fr-CH" dirty="0"/>
              <a:t> of </a:t>
            </a:r>
            <a:r>
              <a:rPr lang="fr-CH" dirty="0" err="1"/>
              <a:t>three</a:t>
            </a:r>
            <a:r>
              <a:rPr lang="fr-CH" dirty="0"/>
              <a:t> types of </a:t>
            </a:r>
            <a:r>
              <a:rPr lang="fr-CH" dirty="0" err="1"/>
              <a:t>explanation</a:t>
            </a:r>
            <a:r>
              <a:rPr lang="fr-CH" dirty="0"/>
              <a:t>:</a:t>
            </a:r>
          </a:p>
          <a:p>
            <a:pPr lvl="1"/>
            <a:r>
              <a:rPr lang="fr-CH" dirty="0"/>
              <a:t>(1) The </a:t>
            </a:r>
            <a:r>
              <a:rPr lang="fr-CH" dirty="0" err="1"/>
              <a:t>strength</a:t>
            </a:r>
            <a:r>
              <a:rPr lang="fr-CH" dirty="0"/>
              <a:t> of the Swiss franc due to </a:t>
            </a:r>
            <a:r>
              <a:rPr lang="fr-CH" dirty="0" err="1"/>
              <a:t>its</a:t>
            </a:r>
            <a:r>
              <a:rPr lang="fr-CH" dirty="0"/>
              <a:t> </a:t>
            </a:r>
            <a:r>
              <a:rPr lang="fr-CH" dirty="0" err="1"/>
              <a:t>safe</a:t>
            </a:r>
            <a:r>
              <a:rPr lang="fr-CH" dirty="0"/>
              <a:t> </a:t>
            </a:r>
            <a:r>
              <a:rPr lang="fr-CH" dirty="0" err="1"/>
              <a:t>haven</a:t>
            </a:r>
            <a:r>
              <a:rPr lang="fr-CH" dirty="0"/>
              <a:t> </a:t>
            </a:r>
            <a:r>
              <a:rPr lang="fr-CH" dirty="0" err="1"/>
              <a:t>status</a:t>
            </a:r>
            <a:endParaRPr lang="fr-CH" dirty="0"/>
          </a:p>
          <a:p>
            <a:pPr lvl="1"/>
            <a:r>
              <a:rPr lang="fr-CH" dirty="0"/>
              <a:t>(2) The construction of the Swiss consumer </a:t>
            </a:r>
            <a:r>
              <a:rPr lang="fr-CH" dirty="0" err="1"/>
              <a:t>price</a:t>
            </a:r>
            <a:r>
              <a:rPr lang="fr-CH" dirty="0"/>
              <a:t> index</a:t>
            </a:r>
          </a:p>
          <a:p>
            <a:pPr lvl="1"/>
            <a:r>
              <a:rPr lang="fr-CH" dirty="0"/>
              <a:t>(3) The </a:t>
            </a:r>
            <a:r>
              <a:rPr lang="fr-CH" dirty="0" err="1"/>
              <a:t>role</a:t>
            </a:r>
            <a:r>
              <a:rPr lang="fr-CH" dirty="0"/>
              <a:t> of </a:t>
            </a:r>
            <a:r>
              <a:rPr lang="fr-CH" dirty="0" err="1"/>
              <a:t>price</a:t>
            </a:r>
            <a:r>
              <a:rPr lang="fr-CH" dirty="0"/>
              <a:t> administration</a:t>
            </a:r>
          </a:p>
          <a:p>
            <a:r>
              <a:rPr lang="fr-CH" dirty="0"/>
              <a:t>The </a:t>
            </a:r>
            <a:r>
              <a:rPr lang="fr-CH" dirty="0" err="1"/>
              <a:t>role</a:t>
            </a:r>
            <a:r>
              <a:rPr lang="fr-CH" dirty="0"/>
              <a:t> of </a:t>
            </a:r>
            <a:r>
              <a:rPr lang="fr-CH" dirty="0" err="1"/>
              <a:t>price</a:t>
            </a:r>
            <a:r>
              <a:rPr lang="fr-CH" dirty="0"/>
              <a:t> administration in </a:t>
            </a:r>
            <a:r>
              <a:rPr lang="fr-CH" dirty="0" err="1"/>
              <a:t>systemically</a:t>
            </a:r>
            <a:r>
              <a:rPr lang="fr-CH" dirty="0"/>
              <a:t> </a:t>
            </a:r>
            <a:r>
              <a:rPr lang="fr-CH" dirty="0" err="1"/>
              <a:t>significant</a:t>
            </a:r>
            <a:r>
              <a:rPr lang="fr-CH" dirty="0"/>
              <a:t> </a:t>
            </a:r>
            <a:r>
              <a:rPr lang="fr-CH" dirty="0" err="1"/>
              <a:t>sectors</a:t>
            </a:r>
            <a:endParaRPr lang="fr-CH" dirty="0"/>
          </a:p>
          <a:p>
            <a:r>
              <a:rPr lang="fr-CH" dirty="0"/>
              <a:t>The </a:t>
            </a:r>
            <a:r>
              <a:rPr lang="fr-CH" dirty="0" err="1"/>
              <a:t>energy</a:t>
            </a:r>
            <a:r>
              <a:rPr lang="fr-CH" dirty="0"/>
              <a:t> </a:t>
            </a:r>
            <a:r>
              <a:rPr lang="fr-CH" dirty="0" err="1"/>
              <a:t>sector</a:t>
            </a:r>
            <a:endParaRPr lang="fr-CH" dirty="0"/>
          </a:p>
          <a:p>
            <a:r>
              <a:rPr lang="fr-CH" dirty="0"/>
              <a:t>The socio-</a:t>
            </a:r>
            <a:r>
              <a:rPr lang="fr-CH" dirty="0" err="1"/>
              <a:t>political</a:t>
            </a:r>
            <a:r>
              <a:rPr lang="fr-CH" dirty="0"/>
              <a:t> coalition </a:t>
            </a:r>
            <a:r>
              <a:rPr lang="fr-CH" dirty="0" err="1"/>
              <a:t>behind</a:t>
            </a:r>
            <a:r>
              <a:rPr lang="fr-CH" dirty="0"/>
              <a:t> the </a:t>
            </a:r>
            <a:r>
              <a:rPr lang="fr-CH" dirty="0" err="1"/>
              <a:t>island</a:t>
            </a:r>
            <a:r>
              <a:rPr lang="fr-CH" dirty="0"/>
              <a:t> of high </a:t>
            </a:r>
            <a:r>
              <a:rPr lang="fr-CH" dirty="0" err="1"/>
              <a:t>prices</a:t>
            </a:r>
            <a:endParaRPr lang="fr-CH" dirty="0"/>
          </a:p>
          <a:p>
            <a:pPr lvl="1"/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261386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81412F-51C1-2514-AB5D-955C2BD64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The </a:t>
            </a:r>
            <a:r>
              <a:rPr lang="fr-CH" dirty="0" err="1"/>
              <a:t>role</a:t>
            </a:r>
            <a:r>
              <a:rPr lang="fr-CH" dirty="0"/>
              <a:t> of </a:t>
            </a:r>
            <a:r>
              <a:rPr lang="fr-CH" dirty="0" err="1"/>
              <a:t>price</a:t>
            </a:r>
            <a:r>
              <a:rPr lang="fr-CH" dirty="0"/>
              <a:t> administration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7D1F97-6AA7-E29B-E249-15474D410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24500" cy="4365625"/>
          </a:xfrm>
        </p:spPr>
        <p:txBody>
          <a:bodyPr/>
          <a:lstStyle/>
          <a:p>
            <a:r>
              <a:rPr lang="fr-CH" dirty="0" err="1"/>
              <a:t>Switzerland</a:t>
            </a:r>
            <a:r>
              <a:rPr lang="fr-CH" dirty="0"/>
              <a:t> has the </a:t>
            </a:r>
            <a:r>
              <a:rPr lang="fr-CH" dirty="0" err="1"/>
              <a:t>highest</a:t>
            </a:r>
            <a:r>
              <a:rPr lang="fr-CH" dirty="0"/>
              <a:t> </a:t>
            </a:r>
            <a:r>
              <a:rPr lang="fr-CH" dirty="0" err="1"/>
              <a:t>share</a:t>
            </a:r>
            <a:r>
              <a:rPr lang="fr-CH" dirty="0"/>
              <a:t> of </a:t>
            </a:r>
            <a:r>
              <a:rPr lang="fr-CH" dirty="0" err="1"/>
              <a:t>administered</a:t>
            </a:r>
            <a:r>
              <a:rPr lang="fr-CH" dirty="0"/>
              <a:t> </a:t>
            </a:r>
            <a:r>
              <a:rPr lang="fr-CH" dirty="0" err="1"/>
              <a:t>prices</a:t>
            </a:r>
            <a:r>
              <a:rPr lang="fr-CH" dirty="0"/>
              <a:t> in </a:t>
            </a:r>
            <a:r>
              <a:rPr lang="fr-CH" dirty="0" err="1"/>
              <a:t>its</a:t>
            </a:r>
            <a:r>
              <a:rPr lang="fr-CH" dirty="0"/>
              <a:t> HCPI </a:t>
            </a:r>
            <a:r>
              <a:rPr lang="fr-CH" dirty="0" err="1"/>
              <a:t>compared</a:t>
            </a:r>
            <a:r>
              <a:rPr lang="fr-CH" dirty="0"/>
              <a:t> to </a:t>
            </a:r>
            <a:r>
              <a:rPr lang="fr-CH" dirty="0" err="1"/>
              <a:t>other</a:t>
            </a:r>
            <a:r>
              <a:rPr lang="fr-CH" dirty="0"/>
              <a:t> </a:t>
            </a:r>
            <a:r>
              <a:rPr lang="fr-CH" dirty="0" err="1"/>
              <a:t>European</a:t>
            </a:r>
            <a:r>
              <a:rPr lang="fr-CH" dirty="0"/>
              <a:t> countries (</a:t>
            </a:r>
            <a:r>
              <a:rPr lang="fr-CH" dirty="0" err="1"/>
              <a:t>around</a:t>
            </a:r>
            <a:r>
              <a:rPr lang="fr-CH" dirty="0"/>
              <a:t> 30%)</a:t>
            </a:r>
          </a:p>
          <a:p>
            <a:r>
              <a:rPr lang="fr-CH" dirty="0" err="1"/>
              <a:t>Prices</a:t>
            </a:r>
            <a:r>
              <a:rPr lang="fr-CH" dirty="0"/>
              <a:t> are for </a:t>
            </a:r>
            <a:r>
              <a:rPr lang="fr-CH" dirty="0" err="1"/>
              <a:t>example</a:t>
            </a:r>
            <a:r>
              <a:rPr lang="fr-CH" dirty="0"/>
              <a:t> </a:t>
            </a:r>
            <a:r>
              <a:rPr lang="fr-CH" dirty="0" err="1"/>
              <a:t>administered</a:t>
            </a:r>
            <a:r>
              <a:rPr lang="fr-CH" dirty="0"/>
              <a:t> for </a:t>
            </a:r>
            <a:r>
              <a:rPr lang="fr-CH" dirty="0" err="1"/>
              <a:t>energy</a:t>
            </a:r>
            <a:r>
              <a:rPr lang="fr-CH" dirty="0"/>
              <a:t> (</a:t>
            </a:r>
            <a:r>
              <a:rPr lang="fr-CH" dirty="0" err="1"/>
              <a:t>mainly</a:t>
            </a:r>
            <a:r>
              <a:rPr lang="fr-CH" dirty="0"/>
              <a:t> </a:t>
            </a:r>
            <a:r>
              <a:rPr lang="fr-CH" dirty="0" err="1"/>
              <a:t>electricity</a:t>
            </a:r>
            <a:r>
              <a:rPr lang="fr-CH" dirty="0"/>
              <a:t>), district </a:t>
            </a:r>
            <a:r>
              <a:rPr lang="fr-CH" dirty="0" err="1"/>
              <a:t>heating</a:t>
            </a:r>
            <a:r>
              <a:rPr lang="fr-CH" dirty="0"/>
              <a:t>, </a:t>
            </a:r>
            <a:r>
              <a:rPr lang="fr-CH" dirty="0" err="1"/>
              <a:t>food</a:t>
            </a:r>
            <a:r>
              <a:rPr lang="fr-CH" dirty="0"/>
              <a:t> </a:t>
            </a:r>
            <a:r>
              <a:rPr lang="fr-CH" dirty="0" err="1"/>
              <a:t>products</a:t>
            </a:r>
            <a:r>
              <a:rPr lang="fr-CH" dirty="0"/>
              <a:t>, public transports…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1773A12-E532-E22D-F397-70B3FFB0B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35641"/>
            <a:ext cx="5790105" cy="505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31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DAB7C3-C77F-0BC6-59EE-CC281433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Arguments </a:t>
            </a:r>
            <a:r>
              <a:rPr lang="fr-CH" dirty="0" err="1"/>
              <a:t>against</a:t>
            </a:r>
            <a:r>
              <a:rPr lang="fr-CH" dirty="0"/>
              <a:t> an </a:t>
            </a:r>
            <a:r>
              <a:rPr lang="fr-CH" dirty="0" err="1"/>
              <a:t>effect</a:t>
            </a:r>
            <a:r>
              <a:rPr lang="fr-CH" dirty="0"/>
              <a:t> of </a:t>
            </a:r>
            <a:r>
              <a:rPr lang="fr-CH" dirty="0" err="1"/>
              <a:t>price</a:t>
            </a:r>
            <a:r>
              <a:rPr lang="fr-CH" dirty="0"/>
              <a:t> administration on </a:t>
            </a:r>
            <a:r>
              <a:rPr lang="fr-CH" dirty="0" err="1"/>
              <a:t>low</a:t>
            </a:r>
            <a:r>
              <a:rPr lang="fr-CH" dirty="0"/>
              <a:t> inflation in </a:t>
            </a:r>
            <a:r>
              <a:rPr lang="fr-CH" dirty="0" err="1"/>
              <a:t>Switzerland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49F7D9-9A0C-DD11-91D7-27EBF65FC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05325" cy="4746624"/>
          </a:xfrm>
        </p:spPr>
        <p:txBody>
          <a:bodyPr/>
          <a:lstStyle/>
          <a:p>
            <a:r>
              <a:rPr lang="fr-CH" dirty="0"/>
              <a:t>Auer el al. (2025): </a:t>
            </a:r>
            <a:r>
              <a:rPr lang="fr-CH" dirty="0" err="1"/>
              <a:t>aministered</a:t>
            </a:r>
            <a:r>
              <a:rPr lang="fr-CH" dirty="0"/>
              <a:t> </a:t>
            </a:r>
            <a:r>
              <a:rPr lang="fr-CH" dirty="0" err="1"/>
              <a:t>prices</a:t>
            </a:r>
            <a:r>
              <a:rPr lang="fr-CH" dirty="0"/>
              <a:t> in </a:t>
            </a:r>
            <a:r>
              <a:rPr lang="fr-CH" dirty="0" err="1"/>
              <a:t>Switzerland</a:t>
            </a:r>
            <a:r>
              <a:rPr lang="fr-CH" dirty="0"/>
              <a:t> </a:t>
            </a:r>
            <a:r>
              <a:rPr lang="fr-CH" dirty="0" err="1"/>
              <a:t>increased</a:t>
            </a:r>
            <a:r>
              <a:rPr lang="fr-CH" dirty="0"/>
              <a:t> </a:t>
            </a:r>
            <a:r>
              <a:rPr lang="fr-CH" dirty="0" err="1"/>
              <a:t>less</a:t>
            </a:r>
            <a:r>
              <a:rPr lang="fr-CH" dirty="0"/>
              <a:t> </a:t>
            </a:r>
            <a:r>
              <a:rPr lang="fr-CH" dirty="0" err="1"/>
              <a:t>than</a:t>
            </a:r>
            <a:r>
              <a:rPr lang="fr-CH" dirty="0"/>
              <a:t> in the EU, but </a:t>
            </a:r>
            <a:r>
              <a:rPr lang="fr-CH" dirty="0" err="1"/>
              <a:t>this</a:t>
            </a:r>
            <a:r>
              <a:rPr lang="fr-CH" dirty="0"/>
              <a:t> </a:t>
            </a:r>
            <a:r>
              <a:rPr lang="fr-CH" dirty="0" err="1"/>
              <a:t>is</a:t>
            </a:r>
            <a:r>
              <a:rPr lang="fr-CH" dirty="0"/>
              <a:t> </a:t>
            </a:r>
            <a:r>
              <a:rPr lang="fr-CH" dirty="0" err="1"/>
              <a:t>also</a:t>
            </a:r>
            <a:r>
              <a:rPr lang="fr-CH" dirty="0"/>
              <a:t> the case for non- </a:t>
            </a:r>
            <a:r>
              <a:rPr lang="fr-CH" dirty="0" err="1"/>
              <a:t>administered</a:t>
            </a:r>
            <a:r>
              <a:rPr lang="fr-CH" dirty="0"/>
              <a:t> </a:t>
            </a:r>
            <a:r>
              <a:rPr lang="fr-CH" dirty="0" err="1"/>
              <a:t>prices</a:t>
            </a:r>
            <a:r>
              <a:rPr lang="fr-CH" dirty="0"/>
              <a:t> (figure on the right)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405639E-2EDB-E34B-99A6-16F7C11F2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619" y="1581016"/>
            <a:ext cx="6037538" cy="499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63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D2EF99-AA3A-5E32-4EFF-66634A875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The high </a:t>
            </a:r>
            <a:r>
              <a:rPr lang="fr-CH" dirty="0" err="1"/>
              <a:t>share</a:t>
            </a:r>
            <a:r>
              <a:rPr lang="fr-CH" dirty="0"/>
              <a:t> of </a:t>
            </a:r>
            <a:r>
              <a:rPr lang="fr-CH" dirty="0" err="1"/>
              <a:t>administered</a:t>
            </a:r>
            <a:r>
              <a:rPr lang="fr-CH" dirty="0"/>
              <a:t> </a:t>
            </a:r>
            <a:r>
              <a:rPr lang="fr-CH" dirty="0" err="1"/>
              <a:t>prices</a:t>
            </a:r>
            <a:r>
              <a:rPr lang="fr-CH" dirty="0"/>
              <a:t> in Swiss HCPI: an </a:t>
            </a:r>
            <a:r>
              <a:rPr lang="fr-CH" dirty="0" err="1"/>
              <a:t>institutional</a:t>
            </a:r>
            <a:r>
              <a:rPr lang="fr-CH" dirty="0"/>
              <a:t> artefact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5CFB37-BF45-3365-3554-44B567317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476875" cy="4765675"/>
          </a:xfrm>
        </p:spPr>
        <p:txBody>
          <a:bodyPr>
            <a:normAutofit lnSpcReduction="10000"/>
          </a:bodyPr>
          <a:lstStyle/>
          <a:p>
            <a:r>
              <a:rPr lang="fr-CH" dirty="0"/>
              <a:t>Among the 30% </a:t>
            </a:r>
            <a:r>
              <a:rPr lang="fr-CH" dirty="0" err="1"/>
              <a:t>share</a:t>
            </a:r>
            <a:r>
              <a:rPr lang="fr-CH" dirty="0"/>
              <a:t> of </a:t>
            </a:r>
            <a:r>
              <a:rPr lang="fr-CH" dirty="0" err="1"/>
              <a:t>administered</a:t>
            </a:r>
            <a:r>
              <a:rPr lang="fr-CH" dirty="0"/>
              <a:t> </a:t>
            </a:r>
            <a:r>
              <a:rPr lang="fr-CH" dirty="0" err="1"/>
              <a:t>prices</a:t>
            </a:r>
            <a:r>
              <a:rPr lang="fr-CH" dirty="0"/>
              <a:t> (</a:t>
            </a:r>
            <a:r>
              <a:rPr lang="fr-CH" dirty="0" err="1"/>
              <a:t>APs</a:t>
            </a:r>
            <a:r>
              <a:rPr lang="fr-CH" dirty="0"/>
              <a:t>) in the Swiss HCPI, </a:t>
            </a:r>
            <a:r>
              <a:rPr lang="fr-CH" dirty="0" err="1"/>
              <a:t>around</a:t>
            </a:r>
            <a:r>
              <a:rPr lang="fr-CH" dirty="0"/>
              <a:t> 15% are </a:t>
            </a:r>
            <a:r>
              <a:rPr lang="fr-CH" dirty="0" err="1"/>
              <a:t>health</a:t>
            </a:r>
            <a:r>
              <a:rPr lang="fr-CH" dirty="0"/>
              <a:t> </a:t>
            </a:r>
            <a:r>
              <a:rPr lang="fr-CH" dirty="0" err="1"/>
              <a:t>products</a:t>
            </a:r>
            <a:r>
              <a:rPr lang="fr-CH" dirty="0"/>
              <a:t> and services</a:t>
            </a:r>
          </a:p>
          <a:p>
            <a:r>
              <a:rPr lang="fr-CH" dirty="0"/>
              <a:t>This high </a:t>
            </a:r>
            <a:r>
              <a:rPr lang="fr-CH" dirty="0" err="1"/>
              <a:t>share</a:t>
            </a:r>
            <a:r>
              <a:rPr lang="fr-CH" dirty="0"/>
              <a:t> of </a:t>
            </a:r>
            <a:r>
              <a:rPr lang="fr-CH" dirty="0" err="1"/>
              <a:t>APs</a:t>
            </a:r>
            <a:r>
              <a:rPr lang="fr-CH" dirty="0"/>
              <a:t>, </a:t>
            </a:r>
            <a:r>
              <a:rPr lang="fr-CH" dirty="0" err="1"/>
              <a:t>rather</a:t>
            </a:r>
            <a:r>
              <a:rPr lang="fr-CH" dirty="0"/>
              <a:t> </a:t>
            </a:r>
            <a:r>
              <a:rPr lang="fr-CH" dirty="0" err="1"/>
              <a:t>than</a:t>
            </a:r>
            <a:r>
              <a:rPr lang="fr-CH" dirty="0"/>
              <a:t> an active </a:t>
            </a:r>
            <a:r>
              <a:rPr lang="fr-CH" dirty="0" err="1"/>
              <a:t>policy</a:t>
            </a:r>
            <a:r>
              <a:rPr lang="fr-CH" dirty="0"/>
              <a:t> of </a:t>
            </a:r>
            <a:r>
              <a:rPr lang="fr-CH" dirty="0" err="1"/>
              <a:t>price</a:t>
            </a:r>
            <a:r>
              <a:rPr lang="fr-CH" dirty="0"/>
              <a:t> control, </a:t>
            </a:r>
            <a:r>
              <a:rPr lang="fr-CH" dirty="0" err="1"/>
              <a:t>rather</a:t>
            </a:r>
            <a:r>
              <a:rPr lang="fr-CH" dirty="0"/>
              <a:t> </a:t>
            </a:r>
            <a:r>
              <a:rPr lang="fr-CH" dirty="0" err="1"/>
              <a:t>reflects</a:t>
            </a:r>
            <a:r>
              <a:rPr lang="fr-CH" dirty="0"/>
              <a:t> the </a:t>
            </a:r>
            <a:r>
              <a:rPr lang="fr-CH" dirty="0" err="1"/>
              <a:t>peculiar</a:t>
            </a:r>
            <a:r>
              <a:rPr lang="fr-CH" dirty="0"/>
              <a:t> Swiss </a:t>
            </a:r>
            <a:r>
              <a:rPr lang="fr-CH" dirty="0" err="1"/>
              <a:t>mandatory</a:t>
            </a:r>
            <a:r>
              <a:rPr lang="fr-CH" dirty="0"/>
              <a:t> </a:t>
            </a:r>
            <a:r>
              <a:rPr lang="fr-CH" dirty="0" err="1"/>
              <a:t>health</a:t>
            </a:r>
            <a:r>
              <a:rPr lang="fr-CH" dirty="0"/>
              <a:t> </a:t>
            </a:r>
            <a:r>
              <a:rPr lang="fr-CH" dirty="0" err="1"/>
              <a:t>insurance</a:t>
            </a:r>
            <a:r>
              <a:rPr lang="fr-CH" dirty="0"/>
              <a:t> system </a:t>
            </a:r>
            <a:r>
              <a:rPr lang="fr-CH" dirty="0">
                <a:sym typeface="Wingdings" panose="05000000000000000000" pitchFamily="2" charset="2"/>
              </a:rPr>
              <a:t> Swiss </a:t>
            </a:r>
            <a:r>
              <a:rPr lang="fr-CH" dirty="0" err="1">
                <a:sym typeface="Wingdings" panose="05000000000000000000" pitchFamily="2" charset="2"/>
              </a:rPr>
              <a:t>healthcare</a:t>
            </a:r>
            <a:r>
              <a:rPr lang="fr-CH" dirty="0">
                <a:sym typeface="Wingdings" panose="05000000000000000000" pitchFamily="2" charset="2"/>
              </a:rPr>
              <a:t> </a:t>
            </a:r>
            <a:r>
              <a:rPr lang="fr-CH" dirty="0" err="1">
                <a:sym typeface="Wingdings" panose="05000000000000000000" pitchFamily="2" charset="2"/>
              </a:rPr>
              <a:t>costs</a:t>
            </a:r>
            <a:r>
              <a:rPr lang="fr-CH" dirty="0">
                <a:sym typeface="Wingdings" panose="05000000000000000000" pitchFamily="2" charset="2"/>
              </a:rPr>
              <a:t> are not </a:t>
            </a:r>
            <a:r>
              <a:rPr lang="fr-CH" dirty="0" err="1">
                <a:sym typeface="Wingdings" panose="05000000000000000000" pitchFamily="2" charset="2"/>
              </a:rPr>
              <a:t>covered</a:t>
            </a:r>
            <a:r>
              <a:rPr lang="fr-CH" dirty="0">
                <a:sym typeface="Wingdings" panose="05000000000000000000" pitchFamily="2" charset="2"/>
              </a:rPr>
              <a:t> </a:t>
            </a:r>
            <a:r>
              <a:rPr lang="fr-CH" dirty="0" err="1">
                <a:sym typeface="Wingdings" panose="05000000000000000000" pitchFamily="2" charset="2"/>
              </a:rPr>
              <a:t>until</a:t>
            </a:r>
            <a:r>
              <a:rPr lang="fr-CH" dirty="0">
                <a:sym typeface="Wingdings" panose="05000000000000000000" pitchFamily="2" charset="2"/>
              </a:rPr>
              <a:t> a franchise (minimum 300 francs) </a:t>
            </a:r>
            <a:r>
              <a:rPr lang="fr-CH" dirty="0" err="1">
                <a:sym typeface="Wingdings" panose="05000000000000000000" pitchFamily="2" charset="2"/>
              </a:rPr>
              <a:t>is</a:t>
            </a:r>
            <a:r>
              <a:rPr lang="fr-CH" dirty="0">
                <a:sym typeface="Wingdings" panose="05000000000000000000" pitchFamily="2" charset="2"/>
              </a:rPr>
              <a:t> </a:t>
            </a:r>
            <a:r>
              <a:rPr lang="fr-CH" dirty="0" err="1">
                <a:sym typeface="Wingdings" panose="05000000000000000000" pitchFamily="2" charset="2"/>
              </a:rPr>
              <a:t>reached</a:t>
            </a:r>
            <a:endParaRPr lang="fr-CH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D81D76F-D1E7-52F0-030E-BA860AFE6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1825624"/>
            <a:ext cx="5413019" cy="421322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F332491-5A0A-BD5F-46DF-688D16855C9E}"/>
              </a:ext>
            </a:extLst>
          </p:cNvPr>
          <p:cNvSpPr txBox="1"/>
          <p:nvPr/>
        </p:nvSpPr>
        <p:spPr>
          <a:xfrm>
            <a:off x="6630809" y="6038850"/>
            <a:ext cx="4781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Lukas Mergele et al., « </a:t>
            </a:r>
            <a:r>
              <a:rPr lang="de-DE" sz="1400" dirty="0" err="1"/>
              <a:t>Administriete</a:t>
            </a:r>
            <a:r>
              <a:rPr lang="de-DE" sz="1400" dirty="0"/>
              <a:t> Preise », Grundlagen für die Wirtschaftspolitik (Bern), nᵒ 62 (2026).</a:t>
            </a:r>
            <a:endParaRPr lang="fr-CH" sz="1400" dirty="0"/>
          </a:p>
        </p:txBody>
      </p:sp>
    </p:spTree>
    <p:extLst>
      <p:ext uri="{BB962C8B-B14F-4D97-AF65-F5344CB8AC3E}">
        <p14:creationId xmlns:p14="http://schemas.microsoft.com/office/powerpoint/2010/main" val="396227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171E61-9436-8187-27EF-72AA0846B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75" y="0"/>
            <a:ext cx="11995907" cy="1325563"/>
          </a:xfrm>
        </p:spPr>
        <p:txBody>
          <a:bodyPr>
            <a:normAutofit/>
          </a:bodyPr>
          <a:lstStyle/>
          <a:p>
            <a:r>
              <a:rPr lang="fr-CH" sz="3200" dirty="0"/>
              <a:t>Our </a:t>
            </a:r>
            <a:r>
              <a:rPr lang="fr-CH" sz="3200" dirty="0" err="1"/>
              <a:t>approach</a:t>
            </a:r>
            <a:r>
              <a:rPr lang="fr-CH" sz="3200" dirty="0"/>
              <a:t>: the </a:t>
            </a:r>
            <a:r>
              <a:rPr lang="fr-CH" sz="3200" dirty="0" err="1"/>
              <a:t>role</a:t>
            </a:r>
            <a:r>
              <a:rPr lang="fr-CH" sz="3200" dirty="0"/>
              <a:t> of </a:t>
            </a:r>
            <a:r>
              <a:rPr lang="fr-CH" sz="3200" dirty="0" err="1"/>
              <a:t>price</a:t>
            </a:r>
            <a:r>
              <a:rPr lang="fr-CH" sz="3200" dirty="0"/>
              <a:t> administration in </a:t>
            </a:r>
            <a:r>
              <a:rPr lang="fr-CH" sz="3200" dirty="0" err="1"/>
              <a:t>systemically</a:t>
            </a:r>
            <a:r>
              <a:rPr lang="fr-CH" sz="3200" dirty="0"/>
              <a:t> </a:t>
            </a:r>
            <a:r>
              <a:rPr lang="fr-CH" sz="3200" dirty="0" err="1"/>
              <a:t>significant</a:t>
            </a:r>
            <a:r>
              <a:rPr lang="fr-CH" sz="3200" dirty="0"/>
              <a:t> </a:t>
            </a:r>
            <a:r>
              <a:rPr lang="fr-CH" sz="3200" dirty="0" err="1"/>
              <a:t>sectors</a:t>
            </a:r>
            <a:endParaRPr lang="fr-CH" sz="320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888A120-6F3E-183F-F9EB-7507BD9E3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293" y="1190626"/>
            <a:ext cx="5803143" cy="54673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F475D67-33CE-60FD-1107-DDE081F47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627" y="1190626"/>
            <a:ext cx="6284498" cy="566737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F1DCE2C-AF91-A832-1571-91AE92F09333}"/>
              </a:ext>
            </a:extLst>
          </p:cNvPr>
          <p:cNvSpPr txBox="1"/>
          <p:nvPr/>
        </p:nvSpPr>
        <p:spPr>
          <a:xfrm>
            <a:off x="2724149" y="956231"/>
            <a:ext cx="7686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 err="1"/>
              <a:t>Results</a:t>
            </a:r>
            <a:r>
              <a:rPr lang="fr-CH" dirty="0"/>
              <a:t> </a:t>
            </a:r>
            <a:r>
              <a:rPr lang="fr-CH" dirty="0" err="1"/>
              <a:t>from</a:t>
            </a:r>
            <a:r>
              <a:rPr lang="fr-CH" dirty="0"/>
              <a:t> a Leontief </a:t>
            </a:r>
            <a:r>
              <a:rPr lang="fr-CH" dirty="0" err="1"/>
              <a:t>price</a:t>
            </a:r>
            <a:r>
              <a:rPr lang="fr-CH" dirty="0"/>
              <a:t> model on Swiss input output table (2017)</a:t>
            </a:r>
          </a:p>
        </p:txBody>
      </p:sp>
    </p:spTree>
    <p:extLst>
      <p:ext uri="{BB962C8B-B14F-4D97-AF65-F5344CB8AC3E}">
        <p14:creationId xmlns:p14="http://schemas.microsoft.com/office/powerpoint/2010/main" val="27741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16F52-C65C-53D9-5505-007C7A9E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" y="171451"/>
            <a:ext cx="12049125" cy="1533524"/>
          </a:xfrm>
        </p:spPr>
        <p:txBody>
          <a:bodyPr>
            <a:noAutofit/>
          </a:bodyPr>
          <a:lstStyle/>
          <a:p>
            <a:r>
              <a:rPr lang="fr-CH" sz="3200" dirty="0"/>
              <a:t>Example: Food production, transformation and </a:t>
            </a:r>
            <a:r>
              <a:rPr lang="fr-CH" sz="3200" dirty="0" err="1"/>
              <a:t>retail</a:t>
            </a:r>
            <a:r>
              <a:rPr lang="fr-CH" sz="3200" dirty="0"/>
              <a:t> </a:t>
            </a:r>
            <a:r>
              <a:rPr lang="fr-CH" sz="3200" dirty="0">
                <a:sym typeface="Wingdings" panose="05000000000000000000" pitchFamily="2" charset="2"/>
              </a:rPr>
              <a:t> </a:t>
            </a:r>
            <a:r>
              <a:rPr lang="fr-CH" sz="3200" dirty="0"/>
              <a:t>interactions </a:t>
            </a:r>
            <a:r>
              <a:rPr lang="fr-CH" sz="3200" dirty="0" err="1"/>
              <a:t>between</a:t>
            </a:r>
            <a:r>
              <a:rPr lang="fr-CH" sz="3200" dirty="0"/>
              <a:t> </a:t>
            </a:r>
            <a:r>
              <a:rPr lang="fr-CH" sz="3200" dirty="0" err="1"/>
              <a:t>regulations</a:t>
            </a:r>
            <a:r>
              <a:rPr lang="fr-CH" sz="3200" dirty="0"/>
              <a:t> and </a:t>
            </a:r>
            <a:r>
              <a:rPr lang="fr-CH" sz="3200" dirty="0" err="1"/>
              <a:t>duopolistic</a:t>
            </a:r>
            <a:r>
              <a:rPr lang="fr-CH" sz="3200" dirty="0"/>
              <a:t> power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C560A5-9546-BF3A-5390-5CBA31E98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1704975"/>
            <a:ext cx="5667375" cy="4981574"/>
          </a:xfrm>
        </p:spPr>
        <p:txBody>
          <a:bodyPr>
            <a:normAutofit fontScale="92500" lnSpcReduction="20000"/>
          </a:bodyPr>
          <a:lstStyle/>
          <a:p>
            <a:r>
              <a:rPr lang="fr-CH" dirty="0"/>
              <a:t>Swiss </a:t>
            </a:r>
            <a:r>
              <a:rPr lang="fr-CH" dirty="0" err="1"/>
              <a:t>food</a:t>
            </a:r>
            <a:r>
              <a:rPr lang="fr-CH" dirty="0"/>
              <a:t> </a:t>
            </a:r>
            <a:r>
              <a:rPr lang="fr-CH" dirty="0" err="1"/>
              <a:t>prices</a:t>
            </a:r>
            <a:r>
              <a:rPr lang="fr-CH" dirty="0"/>
              <a:t> are </a:t>
            </a:r>
            <a:r>
              <a:rPr lang="fr-CH" dirty="0" err="1"/>
              <a:t>particularily</a:t>
            </a:r>
            <a:r>
              <a:rPr lang="fr-CH" dirty="0"/>
              <a:t> </a:t>
            </a:r>
            <a:r>
              <a:rPr lang="fr-CH" dirty="0" err="1"/>
              <a:t>resistant</a:t>
            </a:r>
            <a:r>
              <a:rPr lang="fr-CH" dirty="0"/>
              <a:t> to international </a:t>
            </a:r>
            <a:r>
              <a:rPr lang="fr-CH" dirty="0" err="1"/>
              <a:t>shocks</a:t>
            </a:r>
            <a:endParaRPr lang="fr-CH" dirty="0"/>
          </a:p>
          <a:p>
            <a:r>
              <a:rPr lang="fr-CH" dirty="0"/>
              <a:t>This </a:t>
            </a:r>
            <a:r>
              <a:rPr lang="fr-CH" dirty="0" err="1"/>
              <a:t>is</a:t>
            </a:r>
            <a:r>
              <a:rPr lang="fr-CH" dirty="0"/>
              <a:t> </a:t>
            </a:r>
            <a:r>
              <a:rPr lang="fr-CH" dirty="0" err="1"/>
              <a:t>mainly</a:t>
            </a:r>
            <a:r>
              <a:rPr lang="fr-CH" dirty="0"/>
              <a:t> due to the </a:t>
            </a:r>
            <a:r>
              <a:rPr lang="fr-CH" dirty="0" err="1"/>
              <a:t>fact</a:t>
            </a:r>
            <a:r>
              <a:rPr lang="fr-CH" dirty="0"/>
              <a:t> </a:t>
            </a:r>
            <a:r>
              <a:rPr lang="fr-CH" dirty="0" err="1"/>
              <a:t>that</a:t>
            </a:r>
            <a:r>
              <a:rPr lang="fr-CH" dirty="0"/>
              <a:t> </a:t>
            </a:r>
            <a:r>
              <a:rPr lang="fr-CH" dirty="0" err="1"/>
              <a:t>food</a:t>
            </a:r>
            <a:r>
              <a:rPr lang="fr-CH" dirty="0"/>
              <a:t> </a:t>
            </a:r>
            <a:r>
              <a:rPr lang="fr-CH" dirty="0" err="1"/>
              <a:t>prices</a:t>
            </a:r>
            <a:r>
              <a:rPr lang="fr-CH" dirty="0"/>
              <a:t> are </a:t>
            </a:r>
            <a:r>
              <a:rPr lang="fr-CH" dirty="0" err="1"/>
              <a:t>largely</a:t>
            </a:r>
            <a:r>
              <a:rPr lang="fr-CH" dirty="0"/>
              <a:t> </a:t>
            </a:r>
            <a:r>
              <a:rPr lang="fr-CH" dirty="0" err="1"/>
              <a:t>sheltered</a:t>
            </a:r>
            <a:r>
              <a:rPr lang="fr-CH" dirty="0"/>
              <a:t> </a:t>
            </a:r>
            <a:r>
              <a:rPr lang="fr-CH" dirty="0" err="1"/>
              <a:t>from</a:t>
            </a:r>
            <a:r>
              <a:rPr lang="fr-CH" dirty="0"/>
              <a:t> international fluctuations </a:t>
            </a:r>
            <a:r>
              <a:rPr lang="fr-CH" dirty="0" err="1"/>
              <a:t>through</a:t>
            </a:r>
            <a:r>
              <a:rPr lang="fr-CH" dirty="0"/>
              <a:t> indirect </a:t>
            </a:r>
            <a:r>
              <a:rPr lang="fr-CH" dirty="0" err="1"/>
              <a:t>price</a:t>
            </a:r>
            <a:r>
              <a:rPr lang="fr-CH" dirty="0"/>
              <a:t> control</a:t>
            </a:r>
          </a:p>
          <a:p>
            <a:pPr lvl="1"/>
            <a:r>
              <a:rPr lang="fr-CH" dirty="0"/>
              <a:t>Protection of the agricultural </a:t>
            </a:r>
            <a:r>
              <a:rPr lang="fr-CH" dirty="0" err="1"/>
              <a:t>sector</a:t>
            </a:r>
            <a:r>
              <a:rPr lang="fr-CH" dirty="0"/>
              <a:t> </a:t>
            </a:r>
            <a:r>
              <a:rPr lang="fr-CH" dirty="0" err="1"/>
              <a:t>through</a:t>
            </a:r>
            <a:r>
              <a:rPr lang="fr-CH" dirty="0"/>
              <a:t> import </a:t>
            </a:r>
            <a:r>
              <a:rPr lang="fr-CH" dirty="0" err="1"/>
              <a:t>tariff</a:t>
            </a:r>
            <a:r>
              <a:rPr lang="fr-CH" dirty="0"/>
              <a:t> rates quotas and subsidies</a:t>
            </a:r>
          </a:p>
          <a:p>
            <a:r>
              <a:rPr lang="fr-CH" dirty="0"/>
              <a:t>Food transformation and </a:t>
            </a:r>
            <a:r>
              <a:rPr lang="fr-CH" dirty="0" err="1"/>
              <a:t>retail</a:t>
            </a:r>
            <a:r>
              <a:rPr lang="fr-CH" dirty="0"/>
              <a:t> are </a:t>
            </a:r>
            <a:r>
              <a:rPr lang="fr-CH" dirty="0" err="1"/>
              <a:t>furthermore</a:t>
            </a:r>
            <a:r>
              <a:rPr lang="fr-CH" dirty="0"/>
              <a:t> </a:t>
            </a:r>
            <a:r>
              <a:rPr lang="fr-CH" dirty="0" err="1"/>
              <a:t>controlled</a:t>
            </a:r>
            <a:r>
              <a:rPr lang="fr-CH" dirty="0"/>
              <a:t> by </a:t>
            </a:r>
            <a:r>
              <a:rPr lang="fr-CH" dirty="0" err="1"/>
              <a:t>two</a:t>
            </a:r>
            <a:r>
              <a:rPr lang="fr-CH" dirty="0"/>
              <a:t> large </a:t>
            </a:r>
            <a:r>
              <a:rPr lang="fr-CH" dirty="0" err="1"/>
              <a:t>cooperatives</a:t>
            </a:r>
            <a:r>
              <a:rPr lang="fr-CH" dirty="0"/>
              <a:t> (Coop &amp; Migros), </a:t>
            </a:r>
            <a:r>
              <a:rPr lang="fr-CH" dirty="0" err="1"/>
              <a:t>whose</a:t>
            </a:r>
            <a:r>
              <a:rPr lang="fr-CH" dirty="0"/>
              <a:t> power come </a:t>
            </a:r>
            <a:r>
              <a:rPr lang="fr-CH" dirty="0" err="1"/>
              <a:t>from</a:t>
            </a:r>
            <a:r>
              <a:rPr lang="fr-CH" dirty="0"/>
              <a:t> the tradition of protection of the Swiss </a:t>
            </a:r>
            <a:r>
              <a:rPr lang="fr-CH" dirty="0" err="1"/>
              <a:t>domestic</a:t>
            </a:r>
            <a:r>
              <a:rPr lang="fr-CH" dirty="0"/>
              <a:t> </a:t>
            </a:r>
            <a:r>
              <a:rPr lang="fr-CH" dirty="0" err="1"/>
              <a:t>sector</a:t>
            </a:r>
            <a:r>
              <a:rPr lang="fr-CH" dirty="0"/>
              <a:t> by the state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7F3831F-498B-D045-9DB3-C1D64127F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47775"/>
            <a:ext cx="5416679" cy="515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95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6260A4-32EF-4855-E85A-9987D09A5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629445"/>
          </a:xfrm>
        </p:spPr>
        <p:txBody>
          <a:bodyPr>
            <a:normAutofit fontScale="90000"/>
          </a:bodyPr>
          <a:lstStyle/>
          <a:p>
            <a:r>
              <a:rPr lang="fr-CH" sz="4000" dirty="0"/>
              <a:t>Example 2: </a:t>
            </a:r>
            <a:r>
              <a:rPr lang="fr-CH" sz="4000" dirty="0" err="1"/>
              <a:t>energy</a:t>
            </a:r>
            <a:r>
              <a:rPr lang="fr-CH" sz="4000" dirty="0"/>
              <a:t> and </a:t>
            </a:r>
            <a:r>
              <a:rPr lang="fr-CH" sz="4000" dirty="0" err="1"/>
              <a:t>electricity</a:t>
            </a:r>
            <a:endParaRPr lang="fr-CH" sz="4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0EA4C6-75AA-38F6-2FCF-8D63E43F4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696" y="5143498"/>
            <a:ext cx="11585704" cy="119708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CH" dirty="0" err="1"/>
              <a:t>Switzerland</a:t>
            </a:r>
            <a:r>
              <a:rPr lang="fr-CH" dirty="0"/>
              <a:t> </a:t>
            </a:r>
            <a:r>
              <a:rPr lang="fr-CH" dirty="0" err="1"/>
              <a:t>resistance</a:t>
            </a:r>
            <a:r>
              <a:rPr lang="fr-CH" dirty="0"/>
              <a:t> to international </a:t>
            </a:r>
            <a:r>
              <a:rPr lang="fr-CH" dirty="0" err="1"/>
              <a:t>energy</a:t>
            </a:r>
            <a:r>
              <a:rPr lang="fr-CH" dirty="0"/>
              <a:t> </a:t>
            </a:r>
            <a:r>
              <a:rPr lang="fr-CH" dirty="0" err="1"/>
              <a:t>shocks</a:t>
            </a:r>
            <a:r>
              <a:rPr lang="fr-CH" dirty="0"/>
              <a:t> </a:t>
            </a:r>
            <a:r>
              <a:rPr lang="fr-CH" dirty="0" err="1"/>
              <a:t>also</a:t>
            </a:r>
            <a:r>
              <a:rPr lang="fr-CH" dirty="0"/>
              <a:t> come </a:t>
            </a:r>
            <a:r>
              <a:rPr lang="fr-CH" dirty="0" err="1"/>
              <a:t>from</a:t>
            </a:r>
            <a:r>
              <a:rPr lang="fr-CH" dirty="0"/>
              <a:t> the combination and </a:t>
            </a:r>
            <a:r>
              <a:rPr lang="fr-CH" dirty="0" err="1"/>
              <a:t>complementarity</a:t>
            </a:r>
            <a:r>
              <a:rPr lang="fr-CH" dirty="0"/>
              <a:t> </a:t>
            </a:r>
            <a:r>
              <a:rPr lang="fr-CH" dirty="0" err="1"/>
              <a:t>between</a:t>
            </a:r>
            <a:r>
              <a:rPr lang="fr-CH" dirty="0"/>
              <a:t> a </a:t>
            </a:r>
            <a:r>
              <a:rPr lang="fr-CH" dirty="0" err="1"/>
              <a:t>well-diversified</a:t>
            </a:r>
            <a:r>
              <a:rPr lang="fr-CH" dirty="0"/>
              <a:t> </a:t>
            </a:r>
            <a:r>
              <a:rPr lang="fr-CH" dirty="0" err="1"/>
              <a:t>energy</a:t>
            </a:r>
            <a:r>
              <a:rPr lang="fr-CH" dirty="0"/>
              <a:t> mix, </a:t>
            </a:r>
            <a:r>
              <a:rPr lang="fr-CH" dirty="0" err="1"/>
              <a:t>low</a:t>
            </a:r>
            <a:r>
              <a:rPr lang="fr-CH" dirty="0"/>
              <a:t> </a:t>
            </a:r>
            <a:r>
              <a:rPr lang="fr-CH" dirty="0" err="1"/>
              <a:t>energy</a:t>
            </a:r>
            <a:r>
              <a:rPr lang="fr-CH" dirty="0"/>
              <a:t> </a:t>
            </a:r>
            <a:r>
              <a:rPr lang="fr-CH" dirty="0" err="1"/>
              <a:t>intensity</a:t>
            </a:r>
            <a:r>
              <a:rPr lang="fr-CH" dirty="0"/>
              <a:t> and the </a:t>
            </a:r>
            <a:r>
              <a:rPr lang="fr-CH" dirty="0" err="1"/>
              <a:t>fact</a:t>
            </a:r>
            <a:r>
              <a:rPr lang="fr-CH" dirty="0"/>
              <a:t> </a:t>
            </a:r>
            <a:r>
              <a:rPr lang="fr-CH" dirty="0" err="1"/>
              <a:t>that</a:t>
            </a:r>
            <a:r>
              <a:rPr lang="fr-CH" dirty="0"/>
              <a:t> </a:t>
            </a:r>
            <a:r>
              <a:rPr lang="fr-CH" dirty="0" err="1"/>
              <a:t>electricity</a:t>
            </a:r>
            <a:r>
              <a:rPr lang="fr-CH" dirty="0"/>
              <a:t> </a:t>
            </a:r>
            <a:r>
              <a:rPr lang="fr-CH" dirty="0" err="1"/>
              <a:t>supply</a:t>
            </a:r>
            <a:r>
              <a:rPr lang="fr-CH" dirty="0"/>
              <a:t> </a:t>
            </a:r>
            <a:r>
              <a:rPr lang="fr-CH" dirty="0" err="1"/>
              <a:t>is</a:t>
            </a:r>
            <a:r>
              <a:rPr lang="fr-CH" dirty="0"/>
              <a:t> not </a:t>
            </a:r>
            <a:r>
              <a:rPr lang="fr-CH" dirty="0" err="1"/>
              <a:t>governed</a:t>
            </a:r>
            <a:r>
              <a:rPr lang="fr-CH" dirty="0"/>
              <a:t> by a </a:t>
            </a:r>
            <a:r>
              <a:rPr lang="fr-CH" dirty="0" err="1"/>
              <a:t>liberalized</a:t>
            </a:r>
            <a:r>
              <a:rPr lang="fr-CH" dirty="0"/>
              <a:t> </a:t>
            </a:r>
            <a:r>
              <a:rPr lang="fr-CH" dirty="0" err="1"/>
              <a:t>market</a:t>
            </a:r>
            <a:r>
              <a:rPr lang="fr-CH" dirty="0"/>
              <a:t> as in the </a:t>
            </a:r>
            <a:r>
              <a:rPr lang="fr-CH" dirty="0" err="1"/>
              <a:t>rest</a:t>
            </a:r>
            <a:r>
              <a:rPr lang="fr-CH" dirty="0"/>
              <a:t> of Europe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F7AA13-D2DF-FF7D-2762-67300451A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487" y="761999"/>
            <a:ext cx="4573892" cy="394991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D5E99FE-D876-B59F-8479-3B321FC3F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611" y="768244"/>
            <a:ext cx="3949903" cy="415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926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8427C2-AA40-D436-25E5-BDCF1961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18255"/>
            <a:ext cx="11163300" cy="972345"/>
          </a:xfrm>
        </p:spPr>
        <p:txBody>
          <a:bodyPr/>
          <a:lstStyle/>
          <a:p>
            <a:r>
              <a:rPr lang="fr-CH" dirty="0"/>
              <a:t>The socio-</a:t>
            </a:r>
            <a:r>
              <a:rPr lang="fr-CH" dirty="0" err="1"/>
              <a:t>political</a:t>
            </a:r>
            <a:r>
              <a:rPr lang="fr-CH" dirty="0"/>
              <a:t> coalition </a:t>
            </a:r>
            <a:r>
              <a:rPr lang="fr-CH" dirty="0" err="1"/>
              <a:t>behind</a:t>
            </a:r>
            <a:r>
              <a:rPr lang="fr-CH" dirty="0"/>
              <a:t> </a:t>
            </a:r>
            <a:r>
              <a:rPr lang="fr-CH" dirty="0" err="1"/>
              <a:t>price</a:t>
            </a:r>
            <a:r>
              <a:rPr lang="fr-CH" dirty="0"/>
              <a:t> </a:t>
            </a:r>
            <a:r>
              <a:rPr lang="fr-CH" dirty="0" err="1"/>
              <a:t>stability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25988D-7CAA-6E99-7E63-570EFCFE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171575"/>
            <a:ext cx="10820400" cy="5005388"/>
          </a:xfrm>
        </p:spPr>
        <p:txBody>
          <a:bodyPr/>
          <a:lstStyle/>
          <a:p>
            <a:r>
              <a:rPr lang="fr-CH" dirty="0"/>
              <a:t>Price administration, imports control and the protection of the </a:t>
            </a:r>
            <a:r>
              <a:rPr lang="fr-CH" dirty="0" err="1"/>
              <a:t>domestic</a:t>
            </a:r>
            <a:r>
              <a:rPr lang="fr-CH" dirty="0"/>
              <a:t> </a:t>
            </a:r>
            <a:r>
              <a:rPr lang="fr-CH" dirty="0" err="1"/>
              <a:t>sectors</a:t>
            </a:r>
            <a:r>
              <a:rPr lang="fr-CH" dirty="0"/>
              <a:t> are </a:t>
            </a:r>
            <a:r>
              <a:rPr lang="fr-CH" dirty="0" err="1"/>
              <a:t>often</a:t>
            </a:r>
            <a:r>
              <a:rPr lang="fr-CH" dirty="0"/>
              <a:t> </a:t>
            </a:r>
            <a:r>
              <a:rPr lang="fr-CH" dirty="0" err="1"/>
              <a:t>pointed</a:t>
            </a:r>
            <a:r>
              <a:rPr lang="fr-CH" dirty="0"/>
              <a:t> out in </a:t>
            </a:r>
            <a:r>
              <a:rPr lang="fr-CH" dirty="0" err="1"/>
              <a:t>Switzerland</a:t>
            </a:r>
            <a:r>
              <a:rPr lang="fr-CH" dirty="0"/>
              <a:t> as </a:t>
            </a:r>
            <a:r>
              <a:rPr lang="fr-CH" dirty="0" err="1"/>
              <a:t>responsible</a:t>
            </a:r>
            <a:r>
              <a:rPr lang="fr-CH" dirty="0"/>
              <a:t> for the </a:t>
            </a:r>
            <a:r>
              <a:rPr lang="fr-CH" dirty="0" err="1"/>
              <a:t>country's</a:t>
            </a:r>
            <a:r>
              <a:rPr lang="fr-CH" dirty="0"/>
              <a:t> </a:t>
            </a:r>
            <a:r>
              <a:rPr lang="fr-CH" dirty="0" err="1"/>
              <a:t>price</a:t>
            </a:r>
            <a:r>
              <a:rPr lang="fr-CH" dirty="0"/>
              <a:t> </a:t>
            </a:r>
            <a:r>
              <a:rPr lang="fr-CH" dirty="0" err="1"/>
              <a:t>stability</a:t>
            </a:r>
            <a:r>
              <a:rPr lang="fr-CH" dirty="0"/>
              <a:t>, but at the </a:t>
            </a:r>
            <a:r>
              <a:rPr lang="fr-CH" dirty="0" err="1"/>
              <a:t>expense</a:t>
            </a:r>
            <a:r>
              <a:rPr lang="fr-CH" dirty="0"/>
              <a:t> of a </a:t>
            </a:r>
            <a:r>
              <a:rPr lang="fr-CH" dirty="0" err="1"/>
              <a:t>very</a:t>
            </a:r>
            <a:r>
              <a:rPr lang="fr-CH" dirty="0"/>
              <a:t> high </a:t>
            </a:r>
            <a:r>
              <a:rPr lang="fr-CH" dirty="0" err="1"/>
              <a:t>price</a:t>
            </a:r>
            <a:r>
              <a:rPr lang="fr-CH" dirty="0"/>
              <a:t> </a:t>
            </a:r>
            <a:r>
              <a:rPr lang="fr-CH" dirty="0" err="1"/>
              <a:t>level</a:t>
            </a:r>
            <a:r>
              <a:rPr lang="fr-CH" dirty="0"/>
              <a:t>.</a:t>
            </a:r>
          </a:p>
          <a:p>
            <a:r>
              <a:rPr lang="fr-CH" dirty="0"/>
              <a:t>In the Swiss </a:t>
            </a:r>
            <a:r>
              <a:rPr lang="fr-CH" dirty="0" err="1"/>
              <a:t>political</a:t>
            </a:r>
            <a:r>
              <a:rPr lang="fr-CH" dirty="0"/>
              <a:t> </a:t>
            </a:r>
            <a:r>
              <a:rPr lang="fr-CH" dirty="0" err="1"/>
              <a:t>economy</a:t>
            </a:r>
            <a:r>
              <a:rPr lang="fr-CH" dirty="0"/>
              <a:t> </a:t>
            </a:r>
            <a:r>
              <a:rPr lang="fr-CH" dirty="0" err="1"/>
              <a:t>literature</a:t>
            </a:r>
            <a:r>
              <a:rPr lang="fr-CH" dirty="0"/>
              <a:t>, </a:t>
            </a:r>
            <a:r>
              <a:rPr lang="fr-CH" dirty="0" err="1"/>
              <a:t>these</a:t>
            </a:r>
            <a:r>
              <a:rPr lang="fr-CH" dirty="0"/>
              <a:t> </a:t>
            </a:r>
            <a:r>
              <a:rPr lang="fr-CH" dirty="0" err="1"/>
              <a:t>regulations</a:t>
            </a:r>
            <a:r>
              <a:rPr lang="fr-CH" dirty="0"/>
              <a:t> are </a:t>
            </a:r>
            <a:r>
              <a:rPr lang="fr-CH" dirty="0" err="1"/>
              <a:t>analyzed</a:t>
            </a:r>
            <a:r>
              <a:rPr lang="fr-CH" dirty="0"/>
              <a:t> as the </a:t>
            </a:r>
            <a:r>
              <a:rPr lang="fr-CH" dirty="0" err="1"/>
              <a:t>result</a:t>
            </a:r>
            <a:r>
              <a:rPr lang="fr-CH" dirty="0"/>
              <a:t> of a compromise </a:t>
            </a:r>
            <a:r>
              <a:rPr lang="fr-CH" dirty="0" err="1"/>
              <a:t>within</a:t>
            </a:r>
            <a:r>
              <a:rPr lang="fr-CH" dirty="0"/>
              <a:t> a "bourgeois bloc" </a:t>
            </a:r>
            <a:r>
              <a:rPr lang="fr-CH" dirty="0" err="1"/>
              <a:t>composed</a:t>
            </a:r>
            <a:r>
              <a:rPr lang="fr-CH" dirty="0"/>
              <a:t> by the </a:t>
            </a:r>
            <a:r>
              <a:rPr lang="fr-CH" dirty="0" err="1"/>
              <a:t>governing</a:t>
            </a:r>
            <a:r>
              <a:rPr lang="fr-CH" dirty="0"/>
              <a:t> right-</a:t>
            </a:r>
            <a:r>
              <a:rPr lang="fr-CH" dirty="0" err="1"/>
              <a:t>wing</a:t>
            </a:r>
            <a:r>
              <a:rPr lang="fr-CH" dirty="0"/>
              <a:t> </a:t>
            </a:r>
            <a:r>
              <a:rPr lang="fr-CH" dirty="0" err="1"/>
              <a:t>political</a:t>
            </a:r>
            <a:r>
              <a:rPr lang="fr-CH" dirty="0"/>
              <a:t> parties and the business </a:t>
            </a:r>
            <a:r>
              <a:rPr lang="fr-CH" dirty="0" err="1"/>
              <a:t>interests</a:t>
            </a:r>
            <a:r>
              <a:rPr lang="fr-CH" dirty="0"/>
              <a:t> associations (BIAs) of the export-</a:t>
            </a:r>
            <a:r>
              <a:rPr lang="fr-CH" dirty="0" err="1"/>
              <a:t>oriented</a:t>
            </a:r>
            <a:r>
              <a:rPr lang="fr-CH" dirty="0"/>
              <a:t> and </a:t>
            </a:r>
            <a:r>
              <a:rPr lang="fr-CH" dirty="0" err="1"/>
              <a:t>domestic-oriented</a:t>
            </a:r>
            <a:r>
              <a:rPr lang="fr-CH" dirty="0"/>
              <a:t> industries.</a:t>
            </a:r>
          </a:p>
          <a:p>
            <a:r>
              <a:rPr lang="fr-CH" dirty="0"/>
              <a:t>The compromise </a:t>
            </a:r>
            <a:r>
              <a:rPr lang="fr-CH" dirty="0" err="1"/>
              <a:t>is</a:t>
            </a:r>
            <a:r>
              <a:rPr lang="fr-CH" dirty="0"/>
              <a:t> </a:t>
            </a:r>
            <a:r>
              <a:rPr lang="fr-CH" dirty="0" err="1"/>
              <a:t>based</a:t>
            </a:r>
            <a:r>
              <a:rPr lang="fr-CH" dirty="0"/>
              <a:t> on the </a:t>
            </a:r>
            <a:r>
              <a:rPr lang="fr-CH" dirty="0" err="1"/>
              <a:t>principle</a:t>
            </a:r>
            <a:r>
              <a:rPr lang="fr-CH" dirty="0"/>
              <a:t> of "</a:t>
            </a:r>
            <a:r>
              <a:rPr lang="fr-CH" dirty="0" err="1"/>
              <a:t>external</a:t>
            </a:r>
            <a:r>
              <a:rPr lang="fr-CH" dirty="0"/>
              <a:t> </a:t>
            </a:r>
            <a:r>
              <a:rPr lang="fr-CH" dirty="0" err="1"/>
              <a:t>liberalization</a:t>
            </a:r>
            <a:r>
              <a:rPr lang="fr-CH" dirty="0"/>
              <a:t> </a:t>
            </a:r>
            <a:r>
              <a:rPr lang="fr-CH" dirty="0" err="1"/>
              <a:t>with</a:t>
            </a:r>
            <a:r>
              <a:rPr lang="fr-CH" dirty="0"/>
              <a:t> </a:t>
            </a:r>
            <a:r>
              <a:rPr lang="fr-CH" dirty="0" err="1"/>
              <a:t>domestic</a:t>
            </a:r>
            <a:r>
              <a:rPr lang="fr-CH" dirty="0"/>
              <a:t> compensation"</a:t>
            </a:r>
          </a:p>
        </p:txBody>
      </p:sp>
    </p:spTree>
    <p:extLst>
      <p:ext uri="{BB962C8B-B14F-4D97-AF65-F5344CB8AC3E}">
        <p14:creationId xmlns:p14="http://schemas.microsoft.com/office/powerpoint/2010/main" val="2645277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63893C-7525-7600-6CBE-C7F254724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The bourgeois bloc narrative on the Swiss high </a:t>
            </a:r>
            <a:r>
              <a:rPr lang="fr-CH" dirty="0" err="1"/>
              <a:t>price</a:t>
            </a:r>
            <a:r>
              <a:rPr lang="fr-CH" dirty="0"/>
              <a:t> </a:t>
            </a:r>
            <a:r>
              <a:rPr lang="fr-CH" dirty="0" err="1"/>
              <a:t>island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BBE93D-8799-D8E7-6E73-DEF1556E1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Price </a:t>
            </a:r>
            <a:r>
              <a:rPr lang="fr-CH" dirty="0" err="1"/>
              <a:t>stability</a:t>
            </a:r>
            <a:r>
              <a:rPr lang="fr-CH" dirty="0"/>
              <a:t> at the </a:t>
            </a:r>
            <a:r>
              <a:rPr lang="fr-CH" dirty="0" err="1"/>
              <a:t>expense</a:t>
            </a:r>
            <a:r>
              <a:rPr lang="fr-CH" dirty="0"/>
              <a:t> of a high </a:t>
            </a:r>
            <a:r>
              <a:rPr lang="fr-CH" dirty="0" err="1"/>
              <a:t>price</a:t>
            </a:r>
            <a:r>
              <a:rPr lang="fr-CH" dirty="0"/>
              <a:t> </a:t>
            </a:r>
            <a:r>
              <a:rPr lang="fr-CH" dirty="0" err="1"/>
              <a:t>level</a:t>
            </a:r>
            <a:r>
              <a:rPr lang="fr-CH" dirty="0"/>
              <a:t> </a:t>
            </a:r>
            <a:r>
              <a:rPr lang="fr-CH" dirty="0" err="1"/>
              <a:t>comes</a:t>
            </a:r>
            <a:r>
              <a:rPr lang="fr-CH" dirty="0"/>
              <a:t> </a:t>
            </a:r>
            <a:r>
              <a:rPr lang="fr-CH" dirty="0" err="1"/>
              <a:t>from</a:t>
            </a:r>
            <a:r>
              <a:rPr lang="fr-CH" dirty="0"/>
              <a:t> the </a:t>
            </a:r>
            <a:r>
              <a:rPr lang="fr-CH" dirty="0" err="1"/>
              <a:t>domestic</a:t>
            </a:r>
            <a:r>
              <a:rPr lang="fr-CH" dirty="0"/>
              <a:t> compensation </a:t>
            </a:r>
            <a:r>
              <a:rPr lang="fr-CH" dirty="0" err="1"/>
              <a:t>measures</a:t>
            </a:r>
            <a:r>
              <a:rPr lang="fr-CH" dirty="0"/>
              <a:t> </a:t>
            </a:r>
            <a:r>
              <a:rPr lang="fr-CH" dirty="0" err="1"/>
              <a:t>implemented</a:t>
            </a:r>
            <a:r>
              <a:rPr lang="fr-CH" dirty="0"/>
              <a:t> by the bourgeois bloc to </a:t>
            </a:r>
            <a:r>
              <a:rPr lang="fr-CH" dirty="0" err="1"/>
              <a:t>draw</a:t>
            </a:r>
            <a:r>
              <a:rPr lang="fr-CH" dirty="0"/>
              <a:t> the support </a:t>
            </a:r>
            <a:r>
              <a:rPr lang="fr-CH" dirty="0" err="1"/>
              <a:t>from</a:t>
            </a:r>
            <a:r>
              <a:rPr lang="fr-CH" dirty="0"/>
              <a:t> </a:t>
            </a:r>
            <a:r>
              <a:rPr lang="fr-CH" dirty="0" err="1"/>
              <a:t>domestic-oriented</a:t>
            </a:r>
            <a:r>
              <a:rPr lang="fr-CH" dirty="0"/>
              <a:t> industries </a:t>
            </a:r>
            <a:r>
              <a:rPr lang="fr-CH" dirty="0" err="1"/>
              <a:t>which</a:t>
            </a:r>
            <a:r>
              <a:rPr lang="fr-CH" dirty="0"/>
              <a:t> are </a:t>
            </a:r>
            <a:r>
              <a:rPr lang="fr-CH" dirty="0" err="1"/>
              <a:t>less</a:t>
            </a:r>
            <a:r>
              <a:rPr lang="fr-CH" dirty="0"/>
              <a:t> </a:t>
            </a:r>
            <a:r>
              <a:rPr lang="fr-CH" dirty="0" err="1"/>
              <a:t>competitive</a:t>
            </a:r>
            <a:r>
              <a:rPr lang="fr-CH" dirty="0"/>
              <a:t> </a:t>
            </a:r>
            <a:r>
              <a:rPr lang="fr-CH" dirty="0" err="1"/>
              <a:t>than</a:t>
            </a:r>
            <a:r>
              <a:rPr lang="fr-CH" dirty="0"/>
              <a:t> the </a:t>
            </a:r>
            <a:r>
              <a:rPr lang="fr-CH" dirty="0" err="1"/>
              <a:t>firms</a:t>
            </a:r>
            <a:r>
              <a:rPr lang="fr-CH" dirty="0"/>
              <a:t> </a:t>
            </a:r>
            <a:r>
              <a:rPr lang="fr-CH" dirty="0" err="1"/>
              <a:t>oriented</a:t>
            </a:r>
            <a:r>
              <a:rPr lang="fr-CH" dirty="0"/>
              <a:t> </a:t>
            </a:r>
            <a:r>
              <a:rPr lang="fr-CH" dirty="0" err="1"/>
              <a:t>towards</a:t>
            </a:r>
            <a:r>
              <a:rPr lang="fr-CH" dirty="0"/>
              <a:t> international </a:t>
            </a:r>
            <a:r>
              <a:rPr lang="fr-CH" dirty="0" err="1"/>
              <a:t>markets</a:t>
            </a:r>
            <a:endParaRPr lang="fr-CH" dirty="0"/>
          </a:p>
          <a:p>
            <a:r>
              <a:rPr lang="fr-CH" dirty="0" err="1"/>
              <a:t>However</a:t>
            </a:r>
            <a:r>
              <a:rPr lang="fr-CH" dirty="0"/>
              <a:t>, </a:t>
            </a:r>
            <a:r>
              <a:rPr lang="fr-CH" dirty="0" err="1"/>
              <a:t>does</a:t>
            </a:r>
            <a:r>
              <a:rPr lang="fr-CH" dirty="0"/>
              <a:t> the Swiss high </a:t>
            </a:r>
            <a:r>
              <a:rPr lang="fr-CH" dirty="0" err="1"/>
              <a:t>price</a:t>
            </a:r>
            <a:r>
              <a:rPr lang="fr-CH" dirty="0"/>
              <a:t> </a:t>
            </a:r>
            <a:r>
              <a:rPr lang="fr-CH" dirty="0" err="1"/>
              <a:t>level</a:t>
            </a:r>
            <a:r>
              <a:rPr lang="fr-CH" dirty="0"/>
              <a:t> </a:t>
            </a:r>
            <a:r>
              <a:rPr lang="fr-CH" dirty="0" err="1"/>
              <a:t>really</a:t>
            </a:r>
            <a:r>
              <a:rPr lang="fr-CH" dirty="0"/>
              <a:t> come </a:t>
            </a:r>
            <a:r>
              <a:rPr lang="fr-CH" dirty="0" err="1"/>
              <a:t>from</a:t>
            </a:r>
            <a:r>
              <a:rPr lang="fr-CH" dirty="0"/>
              <a:t> </a:t>
            </a:r>
            <a:r>
              <a:rPr lang="fr-CH" dirty="0" err="1"/>
              <a:t>these</a:t>
            </a:r>
            <a:r>
              <a:rPr lang="fr-CH" dirty="0"/>
              <a:t> </a:t>
            </a:r>
            <a:r>
              <a:rPr lang="fr-CH" dirty="0" err="1"/>
              <a:t>regulations</a:t>
            </a:r>
            <a:r>
              <a:rPr lang="fr-CH" dirty="0"/>
              <a:t> ? Sax and Weder (2009) for instance </a:t>
            </a:r>
            <a:r>
              <a:rPr lang="fr-CH" dirty="0" err="1"/>
              <a:t>argued</a:t>
            </a:r>
            <a:r>
              <a:rPr lang="fr-CH" dirty="0"/>
              <a:t> </a:t>
            </a:r>
            <a:r>
              <a:rPr lang="fr-CH" dirty="0" err="1"/>
              <a:t>that</a:t>
            </a:r>
            <a:r>
              <a:rPr lang="fr-CH" dirty="0"/>
              <a:t> </a:t>
            </a:r>
            <a:r>
              <a:rPr lang="fr-CH" dirty="0" err="1"/>
              <a:t>other</a:t>
            </a:r>
            <a:r>
              <a:rPr lang="fr-CH" dirty="0"/>
              <a:t> </a:t>
            </a:r>
            <a:r>
              <a:rPr lang="fr-CH" dirty="0" err="1"/>
              <a:t>factors</a:t>
            </a:r>
            <a:r>
              <a:rPr lang="fr-CH" dirty="0"/>
              <a:t> </a:t>
            </a:r>
            <a:r>
              <a:rPr lang="fr-CH" dirty="0" err="1"/>
              <a:t>such</a:t>
            </a:r>
            <a:r>
              <a:rPr lang="fr-CH" dirty="0"/>
              <a:t> as the </a:t>
            </a:r>
            <a:r>
              <a:rPr lang="fr-CH" dirty="0" err="1"/>
              <a:t>improvement</a:t>
            </a:r>
            <a:r>
              <a:rPr lang="fr-CH" dirty="0"/>
              <a:t> in the Swiss </a:t>
            </a:r>
            <a:r>
              <a:rPr lang="fr-CH" dirty="0" err="1"/>
              <a:t>terms</a:t>
            </a:r>
            <a:r>
              <a:rPr lang="fr-CH" dirty="0"/>
              <a:t> of </a:t>
            </a:r>
            <a:r>
              <a:rPr lang="fr-CH" dirty="0" err="1"/>
              <a:t>trade</a:t>
            </a:r>
            <a:r>
              <a:rPr lang="fr-CH" dirty="0"/>
              <a:t> (</a:t>
            </a:r>
            <a:r>
              <a:rPr lang="fr-CH" dirty="0" err="1"/>
              <a:t>ie</a:t>
            </a:r>
            <a:r>
              <a:rPr lang="fr-CH" dirty="0"/>
              <a:t> the </a:t>
            </a:r>
            <a:r>
              <a:rPr lang="fr-CH" dirty="0" err="1"/>
              <a:t>success</a:t>
            </a:r>
            <a:r>
              <a:rPr lang="fr-CH" dirty="0"/>
              <a:t> of </a:t>
            </a:r>
            <a:r>
              <a:rPr lang="fr-CH" dirty="0" err="1"/>
              <a:t>its</a:t>
            </a:r>
            <a:r>
              <a:rPr lang="fr-CH" dirty="0"/>
              <a:t> exports) are a </a:t>
            </a:r>
            <a:r>
              <a:rPr lang="fr-CH" dirty="0" err="1"/>
              <a:t>better</a:t>
            </a:r>
            <a:r>
              <a:rPr lang="fr-CH" dirty="0"/>
              <a:t> </a:t>
            </a:r>
            <a:r>
              <a:rPr lang="fr-CH" dirty="0" err="1"/>
              <a:t>explanation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609989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CB3D8-A0D5-A034-7D7E-42EADB61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BB5A8F-C400-6558-F278-6EA99610F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H" dirty="0"/>
              <a:t>Price administration </a:t>
            </a:r>
            <a:r>
              <a:rPr lang="fr-CH" dirty="0" err="1"/>
              <a:t>does</a:t>
            </a:r>
            <a:r>
              <a:rPr lang="fr-CH" dirty="0"/>
              <a:t> </a:t>
            </a:r>
            <a:r>
              <a:rPr lang="fr-CH" dirty="0" err="1"/>
              <a:t>play</a:t>
            </a:r>
            <a:r>
              <a:rPr lang="fr-CH" dirty="0"/>
              <a:t> a </a:t>
            </a:r>
            <a:r>
              <a:rPr lang="fr-CH" dirty="0" err="1"/>
              <a:t>role</a:t>
            </a:r>
            <a:r>
              <a:rPr lang="fr-CH" dirty="0"/>
              <a:t> for </a:t>
            </a:r>
            <a:r>
              <a:rPr lang="fr-CH" dirty="0" err="1"/>
              <a:t>price</a:t>
            </a:r>
            <a:r>
              <a:rPr lang="fr-CH" dirty="0"/>
              <a:t> </a:t>
            </a:r>
            <a:r>
              <a:rPr lang="fr-CH" dirty="0" err="1"/>
              <a:t>stability</a:t>
            </a:r>
            <a:r>
              <a:rPr lang="fr-CH" dirty="0"/>
              <a:t> due to </a:t>
            </a:r>
            <a:r>
              <a:rPr lang="fr-CH" dirty="0" err="1"/>
              <a:t>their</a:t>
            </a:r>
            <a:r>
              <a:rPr lang="fr-CH" dirty="0"/>
              <a:t> </a:t>
            </a:r>
            <a:r>
              <a:rPr lang="fr-CH" dirty="0" err="1"/>
              <a:t>prevalence</a:t>
            </a:r>
            <a:r>
              <a:rPr lang="fr-CH" dirty="0"/>
              <a:t> in </a:t>
            </a:r>
            <a:r>
              <a:rPr lang="fr-CH" dirty="0" err="1"/>
              <a:t>sectors</a:t>
            </a:r>
            <a:r>
              <a:rPr lang="fr-CH" dirty="0"/>
              <a:t> </a:t>
            </a:r>
            <a:r>
              <a:rPr lang="fr-CH" dirty="0" err="1"/>
              <a:t>with</a:t>
            </a:r>
            <a:r>
              <a:rPr lang="fr-CH" dirty="0"/>
              <a:t> </a:t>
            </a:r>
            <a:r>
              <a:rPr lang="fr-CH" dirty="0" err="1"/>
              <a:t>systemically</a:t>
            </a:r>
            <a:r>
              <a:rPr lang="fr-CH" dirty="0"/>
              <a:t> </a:t>
            </a:r>
            <a:r>
              <a:rPr lang="fr-CH" dirty="0" err="1"/>
              <a:t>significant</a:t>
            </a:r>
            <a:r>
              <a:rPr lang="fr-CH" dirty="0"/>
              <a:t> </a:t>
            </a:r>
            <a:r>
              <a:rPr lang="fr-CH" dirty="0" err="1"/>
              <a:t>prices</a:t>
            </a:r>
            <a:endParaRPr lang="fr-CH" dirty="0"/>
          </a:p>
          <a:p>
            <a:r>
              <a:rPr lang="fr-CH" dirty="0" err="1"/>
              <a:t>However</a:t>
            </a:r>
            <a:r>
              <a:rPr lang="fr-CH" dirty="0"/>
              <a:t>, </a:t>
            </a:r>
            <a:r>
              <a:rPr lang="fr-CH" dirty="0" err="1"/>
              <a:t>other</a:t>
            </a:r>
            <a:r>
              <a:rPr lang="fr-CH" dirty="0"/>
              <a:t> </a:t>
            </a:r>
            <a:r>
              <a:rPr lang="fr-CH" dirty="0" err="1"/>
              <a:t>factors</a:t>
            </a:r>
            <a:r>
              <a:rPr lang="fr-CH" dirty="0"/>
              <a:t> </a:t>
            </a:r>
            <a:r>
              <a:rPr lang="fr-CH" dirty="0" err="1"/>
              <a:t>such</a:t>
            </a:r>
            <a:r>
              <a:rPr lang="fr-CH" dirty="0"/>
              <a:t> as </a:t>
            </a:r>
            <a:r>
              <a:rPr lang="fr-CH" dirty="0" err="1"/>
              <a:t>Switzerland's</a:t>
            </a:r>
            <a:r>
              <a:rPr lang="fr-CH" dirty="0"/>
              <a:t> </a:t>
            </a:r>
            <a:r>
              <a:rPr lang="fr-CH" dirty="0" err="1"/>
              <a:t>low</a:t>
            </a:r>
            <a:r>
              <a:rPr lang="fr-CH" dirty="0"/>
              <a:t> </a:t>
            </a:r>
            <a:r>
              <a:rPr lang="fr-CH" dirty="0" err="1"/>
              <a:t>energy</a:t>
            </a:r>
            <a:r>
              <a:rPr lang="fr-CH" dirty="0"/>
              <a:t> </a:t>
            </a:r>
            <a:r>
              <a:rPr lang="fr-CH" dirty="0" err="1"/>
              <a:t>intensity</a:t>
            </a:r>
            <a:r>
              <a:rPr lang="fr-CH" dirty="0"/>
              <a:t>, </a:t>
            </a:r>
            <a:r>
              <a:rPr lang="fr-CH" dirty="0" err="1"/>
              <a:t>which</a:t>
            </a:r>
            <a:r>
              <a:rPr lang="fr-CH" dirty="0"/>
              <a:t> has </a:t>
            </a:r>
            <a:r>
              <a:rPr lang="fr-CH" dirty="0" err="1"/>
              <a:t>improved</a:t>
            </a:r>
            <a:r>
              <a:rPr lang="fr-CH" dirty="0"/>
              <a:t> in the last </a:t>
            </a:r>
            <a:r>
              <a:rPr lang="fr-CH" dirty="0" err="1"/>
              <a:t>decades</a:t>
            </a:r>
            <a:r>
              <a:rPr lang="fr-CH" dirty="0"/>
              <a:t> due to favorable structural change, </a:t>
            </a:r>
            <a:r>
              <a:rPr lang="fr-CH" dirty="0" err="1"/>
              <a:t>also</a:t>
            </a:r>
            <a:r>
              <a:rPr lang="fr-CH" dirty="0"/>
              <a:t> </a:t>
            </a:r>
            <a:r>
              <a:rPr lang="fr-CH" dirty="0" err="1"/>
              <a:t>plays</a:t>
            </a:r>
            <a:r>
              <a:rPr lang="fr-CH" dirty="0"/>
              <a:t> an important </a:t>
            </a:r>
            <a:r>
              <a:rPr lang="fr-CH" dirty="0" err="1"/>
              <a:t>role</a:t>
            </a:r>
            <a:r>
              <a:rPr lang="fr-CH" dirty="0"/>
              <a:t>.</a:t>
            </a:r>
          </a:p>
          <a:p>
            <a:r>
              <a:rPr lang="fr-CH" dirty="0" err="1"/>
              <a:t>Further</a:t>
            </a:r>
            <a:r>
              <a:rPr lang="fr-CH" dirty="0"/>
              <a:t> </a:t>
            </a:r>
            <a:r>
              <a:rPr lang="fr-CH" dirty="0" err="1"/>
              <a:t>enhancements</a:t>
            </a:r>
            <a:r>
              <a:rPr lang="fr-CH" dirty="0"/>
              <a:t> of the </a:t>
            </a:r>
            <a:r>
              <a:rPr lang="fr-CH" dirty="0" err="1"/>
              <a:t>paper</a:t>
            </a:r>
            <a:endParaRPr lang="fr-CH" dirty="0"/>
          </a:p>
          <a:p>
            <a:pPr lvl="1"/>
            <a:r>
              <a:rPr lang="fr-CH" dirty="0"/>
              <a:t>More </a:t>
            </a:r>
            <a:r>
              <a:rPr lang="fr-CH" dirty="0" err="1"/>
              <a:t>research</a:t>
            </a:r>
            <a:r>
              <a:rPr lang="fr-CH" dirty="0"/>
              <a:t> </a:t>
            </a:r>
            <a:r>
              <a:rPr lang="fr-CH" dirty="0" err="1"/>
              <a:t>is</a:t>
            </a:r>
            <a:r>
              <a:rPr lang="fr-CH" dirty="0"/>
              <a:t> </a:t>
            </a:r>
            <a:r>
              <a:rPr lang="fr-CH" dirty="0" err="1"/>
              <a:t>needed</a:t>
            </a:r>
            <a:r>
              <a:rPr lang="fr-CH" dirty="0"/>
              <a:t> on the </a:t>
            </a:r>
            <a:r>
              <a:rPr lang="fr-CH" dirty="0" err="1"/>
              <a:t>origins</a:t>
            </a:r>
            <a:r>
              <a:rPr lang="fr-CH" dirty="0"/>
              <a:t> of </a:t>
            </a:r>
            <a:r>
              <a:rPr lang="fr-CH" dirty="0" err="1"/>
              <a:t>Switzerland's</a:t>
            </a:r>
            <a:r>
              <a:rPr lang="fr-CH" dirty="0"/>
              <a:t> high </a:t>
            </a:r>
            <a:r>
              <a:rPr lang="fr-CH" dirty="0" err="1"/>
              <a:t>price</a:t>
            </a:r>
            <a:r>
              <a:rPr lang="fr-CH" dirty="0"/>
              <a:t> </a:t>
            </a:r>
            <a:r>
              <a:rPr lang="fr-CH" dirty="0" err="1"/>
              <a:t>level</a:t>
            </a:r>
            <a:r>
              <a:rPr lang="fr-CH" dirty="0"/>
              <a:t>, </a:t>
            </a:r>
            <a:r>
              <a:rPr lang="fr-CH" dirty="0" err="1"/>
              <a:t>beyond</a:t>
            </a:r>
            <a:r>
              <a:rPr lang="fr-CH" dirty="0"/>
              <a:t> the dominant </a:t>
            </a:r>
            <a:r>
              <a:rPr lang="fr-CH" dirty="0" err="1"/>
              <a:t>explanation</a:t>
            </a:r>
            <a:r>
              <a:rPr lang="fr-CH" dirty="0"/>
              <a:t> </a:t>
            </a:r>
            <a:r>
              <a:rPr lang="fr-CH" dirty="0" err="1"/>
              <a:t>based</a:t>
            </a:r>
            <a:r>
              <a:rPr lang="fr-CH" dirty="0"/>
              <a:t> on the high </a:t>
            </a:r>
            <a:r>
              <a:rPr lang="fr-CH" dirty="0" err="1"/>
              <a:t>degree</a:t>
            </a:r>
            <a:r>
              <a:rPr lang="fr-CH" dirty="0"/>
              <a:t> of </a:t>
            </a:r>
            <a:r>
              <a:rPr lang="fr-CH" dirty="0" err="1"/>
              <a:t>regulation</a:t>
            </a:r>
            <a:r>
              <a:rPr lang="fr-CH" dirty="0"/>
              <a:t> of the </a:t>
            </a:r>
            <a:r>
              <a:rPr lang="fr-CH" dirty="0" err="1"/>
              <a:t>domestic</a:t>
            </a:r>
            <a:r>
              <a:rPr lang="fr-CH" dirty="0"/>
              <a:t> </a:t>
            </a:r>
            <a:r>
              <a:rPr lang="fr-CH" dirty="0" err="1"/>
              <a:t>sector</a:t>
            </a:r>
            <a:endParaRPr lang="fr-CH" dirty="0"/>
          </a:p>
          <a:p>
            <a:pPr lvl="1"/>
            <a:r>
              <a:rPr lang="fr-CH" dirty="0"/>
              <a:t>Domestic output and imports tables </a:t>
            </a:r>
            <a:r>
              <a:rPr lang="fr-CH" dirty="0" err="1"/>
              <a:t>from</a:t>
            </a:r>
            <a:r>
              <a:rPr lang="fr-CH" dirty="0"/>
              <a:t> the OECD </a:t>
            </a:r>
            <a:r>
              <a:rPr lang="fr-CH" dirty="0" err="1"/>
              <a:t>simulate</a:t>
            </a:r>
            <a:r>
              <a:rPr lang="fr-CH" dirty="0"/>
              <a:t> </a:t>
            </a:r>
            <a:r>
              <a:rPr lang="fr-CH" dirty="0" err="1"/>
              <a:t>shocks</a:t>
            </a:r>
            <a:r>
              <a:rPr lang="fr-CH" dirty="0"/>
              <a:t> more relevant to the </a:t>
            </a:r>
            <a:r>
              <a:rPr lang="fr-CH" dirty="0" err="1"/>
              <a:t>research</a:t>
            </a:r>
            <a:r>
              <a:rPr lang="fr-CH" dirty="0"/>
              <a:t> question, </a:t>
            </a:r>
            <a:r>
              <a:rPr lang="fr-CH" dirty="0" err="1"/>
              <a:t>especially</a:t>
            </a:r>
            <a:r>
              <a:rPr lang="fr-CH" dirty="0"/>
              <a:t> </a:t>
            </a:r>
            <a:r>
              <a:rPr lang="fr-CH" dirty="0" err="1"/>
              <a:t>Switzerland's</a:t>
            </a:r>
            <a:r>
              <a:rPr lang="fr-CH" dirty="0"/>
              <a:t> </a:t>
            </a:r>
            <a:r>
              <a:rPr lang="fr-CH" dirty="0" err="1"/>
              <a:t>resistance</a:t>
            </a:r>
            <a:r>
              <a:rPr lang="fr-CH" dirty="0"/>
              <a:t> to international </a:t>
            </a:r>
            <a:r>
              <a:rPr lang="fr-CH" dirty="0" err="1"/>
              <a:t>price</a:t>
            </a:r>
            <a:r>
              <a:rPr lang="fr-CH" dirty="0"/>
              <a:t> </a:t>
            </a:r>
            <a:r>
              <a:rPr lang="fr-CH" dirty="0" err="1"/>
              <a:t>shocks</a:t>
            </a:r>
            <a:endParaRPr lang="fr-CH" dirty="0"/>
          </a:p>
          <a:p>
            <a:pPr lvl="1"/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7610144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785</Words>
  <Application>Microsoft Office PowerPoint</Application>
  <PresentationFormat>Grand écran</PresentationFormat>
  <Paragraphs>45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Thème Office</vt:lpstr>
      <vt:lpstr>Inflation in an Island of High Prices. The Factors behind Price Stability in Switzerland</vt:lpstr>
      <vt:lpstr>Research Question: why does Switzerland have lower inflation rates ?</vt:lpstr>
      <vt:lpstr>Structure of the paper</vt:lpstr>
      <vt:lpstr>The role of price administration</vt:lpstr>
      <vt:lpstr>Arguments against an effect of price administration on low inflation in Switzerland</vt:lpstr>
      <vt:lpstr>The high share of administered prices in Swiss HCPI: an institutional artefact ?</vt:lpstr>
      <vt:lpstr>Our approach: the role of price administration in systemically significant sectors</vt:lpstr>
      <vt:lpstr>Example: Food production, transformation and retail  interactions between regulations and duopolistic power</vt:lpstr>
      <vt:lpstr>Example 2: energy and electricity</vt:lpstr>
      <vt:lpstr>The socio-political coalition behind price stability</vt:lpstr>
      <vt:lpstr>The bourgeois bloc narrative on the Swiss high price island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Celal Güney</dc:creator>
  <cp:lastModifiedBy>Celal Güney</cp:lastModifiedBy>
  <cp:revision>16</cp:revision>
  <dcterms:created xsi:type="dcterms:W3CDTF">2026-09-09T07:58:18Z</dcterms:created>
  <dcterms:modified xsi:type="dcterms:W3CDTF">2026-09-09T15:02:37Z</dcterms:modified>
</cp:coreProperties>
</file>
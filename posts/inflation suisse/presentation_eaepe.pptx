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70" d="100"/>
          <a:sy n="70" d="100"/>
        </p:scale>
        <p:origin x="4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A13D6-403A-363B-AD01-2D637ACAA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7F44159-54AE-51BA-8AF2-209BA0AE4E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EF9699D-4168-0094-094C-0506189C4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407E9A-06DD-370C-D53F-672AE166D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3CF80A-9E88-4E4C-EF1F-88CCFB163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64320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82CC5-E63A-E6FC-2E94-152FE6A95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9EA5DC-DD6D-88E3-FCCB-ECAD5B34A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3EA965-B923-5B16-61F9-D26795C20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2C54A2-4855-6E89-9EF4-FCB71E9EE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B93973-0026-436D-DD24-37EB95D9D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99891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9C186D-51F2-60B6-FF83-A12CB4CE6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C7F5E91-E93A-E466-A842-4A71C71D5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7C0F13-987A-071A-CF34-14C6B9C1B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423B683-0A93-4C45-0348-3D6DD625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54ED81-0FD0-1EF9-DBE8-C262C23C6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55978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CA9AD-3129-396C-BAC3-628BA117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F085A0-B5CA-8F88-CE71-A9DD491D44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0F6A5C9-87D1-BFD8-CF91-17B2D18D96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E65DA3-8FCB-E791-8733-E120C8A84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8496F20-BD6C-A38C-7ADD-DEC932A90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D0B3E13-6629-5CFB-E932-8C552080C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50063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3C841C-E806-76CE-7D44-A473B9194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BFE1F1-0326-7478-D337-71A8982A7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9AF7315-3F12-6B4A-5B44-65C65A668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0058E99-2AF8-12F6-A242-D7F1890523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33CA310-A675-0A90-5A3D-09029F5B70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2376E2-8599-C387-FE48-9335334B2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BBF02-5A1F-6C00-A40E-EC6C728ED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0BD602-C3C5-552D-046A-CBDE22A9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29352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A70EA8-B580-9BE5-D955-DB5735C36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2DCEE40-48A4-ACBB-B095-E0476AA25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F755887-A59C-E326-9D86-7C5E7A4B1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377FD2A-F79C-8CB8-9E31-1830D252F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287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F253F25-6BF2-1B54-B660-31FA252AB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CC1ACA4-EA85-6CCF-2DF7-CAD02E849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88FE598-BA05-4CE8-0042-4B3D8135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1334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ABDCA6-4EB3-2809-B517-EEF7472BA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0228A6-D061-073A-F70C-EF96FC841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8D5BCBA-4AB5-DDC7-60DC-768A14AA9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22DD300-A531-8887-ADA8-B236EEE8E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7FC21C5-448E-EEE1-ED9F-24453DB1A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6237CE-A876-8BDD-D681-DC7F0F481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29182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EA908D-6AF8-8D1F-FEB4-AED0EBF41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AB296B3-78CC-7487-5516-FAE5730A0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92389DF-51C7-BCEC-2B4D-00F0A8C31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BC0062-6927-B258-3E00-49D5212B6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781A0AF-AAF9-6851-5FFA-290B6BFB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AE3B13-14B2-1EF4-4332-F72841D2F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5849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82DB38-08E8-02D8-0FDD-3C4B462FB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240B3-A3D5-0FC0-A627-F348B36E3C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C9E607-B98A-D1C2-E3F9-8874B9B3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EE5161-EED5-ECBC-3630-192120CAC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A98D1A-C6C1-44E6-381D-B85FD4E2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090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C8B8062-D7A0-6672-88C0-264D550BC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C29461B-BB9A-CCB2-C640-4ECAA8C632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5F9D12-317D-AB3E-156F-57C422CEA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2B69FC-8EC3-D17C-DE94-E2662177F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D12646-8F5B-1DA1-A0A4-92A2EBB6F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10447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4958F5F-9AE1-E8B3-375C-9216C72B5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CD01E1-789E-C4EC-4919-B01B301C2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C4B44A-6C44-8712-ABAD-77D3AF057A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7863C-FB7A-4838-98F0-5ACD1BCB1DB5}" type="datetimeFigureOut">
              <a:rPr lang="fr-CH" smtClean="0"/>
              <a:t>10.09.2026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29EFC6-6E26-8627-0604-CFCC48A62B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A1DA92-1AAC-2793-C260-AE3276C9A8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4B60CA-67EE-42A7-AC3D-A75E520FFAE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37712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E409D9-C9B0-E349-BEEB-A68C2D78FD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Inflation in an Island of High Prices. The Factors behind Price Stability in Switzerland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BCE4CF-17EC-4ACE-F0CB-AA7B92524F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 err="1"/>
              <a:t>Celâl</a:t>
            </a:r>
            <a:r>
              <a:rPr lang="en-US" noProof="0" dirty="0"/>
              <a:t> Güney, Michalis Nikiforos, Guillaume Dreyer</a:t>
            </a:r>
          </a:p>
          <a:p>
            <a:r>
              <a:rPr lang="en-US" noProof="0" dirty="0"/>
              <a:t>Department of History-Economics-Society, University of Geneva</a:t>
            </a:r>
          </a:p>
        </p:txBody>
      </p:sp>
    </p:spTree>
    <p:extLst>
      <p:ext uri="{BB962C8B-B14F-4D97-AF65-F5344CB8AC3E}">
        <p14:creationId xmlns:p14="http://schemas.microsoft.com/office/powerpoint/2010/main" val="493313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38FA6F-530D-0FC5-0878-81E792F43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536191"/>
          </a:xfrm>
        </p:spPr>
        <p:txBody>
          <a:bodyPr>
            <a:normAutofit/>
          </a:bodyPr>
          <a:lstStyle/>
          <a:p>
            <a:r>
              <a:rPr lang="en-US" noProof="0" dirty="0"/>
              <a:t>Research Question: why does Switzerland have lower inflation rates and is so resistant to </a:t>
            </a:r>
            <a:r>
              <a:rPr lang="en-US" noProof="0" dirty="0" err="1"/>
              <a:t>shockflation</a:t>
            </a:r>
            <a:r>
              <a:rPr lang="en-US" noProof="0" dirty="0"/>
              <a:t> ?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ECCED598-F00D-A157-72A9-39B65B3507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" y="1690687"/>
            <a:ext cx="6581775" cy="4259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7443568-3431-4CFD-ACA2-03020E9B9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310" y="1690687"/>
            <a:ext cx="4650858" cy="4802187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753F242B-4266-D1DA-42DC-84E6551F19CD}"/>
              </a:ext>
            </a:extLst>
          </p:cNvPr>
          <p:cNvSpPr txBox="1"/>
          <p:nvPr/>
        </p:nvSpPr>
        <p:spPr>
          <a:xfrm>
            <a:off x="1200150" y="5949997"/>
            <a:ext cx="30194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noProof="0" dirty="0"/>
              <a:t>National CPI indices, source: OECD</a:t>
            </a:r>
          </a:p>
        </p:txBody>
      </p:sp>
    </p:spTree>
    <p:extLst>
      <p:ext uri="{BB962C8B-B14F-4D97-AF65-F5344CB8AC3E}">
        <p14:creationId xmlns:p14="http://schemas.microsoft.com/office/powerpoint/2010/main" val="1180875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6C2B9-F13C-5A71-4806-2C338AFCF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 of the paper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89F813-DF1F-CD28-79F5-0E3DD6CFD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Introduction</a:t>
            </a:r>
          </a:p>
          <a:p>
            <a:pPr lvl="1"/>
            <a:r>
              <a:rPr lang="en-US" noProof="0" dirty="0"/>
              <a:t> Main stylized facts on Swiss prices: low inflation combined with a very high price level</a:t>
            </a:r>
          </a:p>
          <a:p>
            <a:r>
              <a:rPr lang="en-US" noProof="0" dirty="0"/>
              <a:t>Literature review of three types of explanation:</a:t>
            </a:r>
          </a:p>
          <a:p>
            <a:pPr lvl="1"/>
            <a:r>
              <a:rPr lang="en-US" noProof="0" dirty="0"/>
              <a:t>(1) The strength of the Swiss franc due to its safe haven status</a:t>
            </a:r>
          </a:p>
          <a:p>
            <a:pPr lvl="1"/>
            <a:r>
              <a:rPr lang="en-US" noProof="0" dirty="0"/>
              <a:t>(2) The construction of the Swiss consumer price index</a:t>
            </a:r>
          </a:p>
          <a:p>
            <a:pPr lvl="1"/>
            <a:r>
              <a:rPr lang="en-US" noProof="0" dirty="0"/>
              <a:t>(3) The role of price administration</a:t>
            </a:r>
          </a:p>
          <a:p>
            <a:r>
              <a:rPr lang="en-US" noProof="0" dirty="0"/>
              <a:t>The role of price administration in systemically significant sectors</a:t>
            </a:r>
          </a:p>
          <a:p>
            <a:r>
              <a:rPr lang="en-US" noProof="0" dirty="0"/>
              <a:t>The energy sector</a:t>
            </a:r>
          </a:p>
          <a:p>
            <a:r>
              <a:rPr lang="en-US" noProof="0" dirty="0"/>
              <a:t>The socio-political coalition behind the island of high prices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61386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1412F-51C1-2514-AB5D-955C2BD64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role of price administration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7D1F97-6AA7-E29B-E249-15474D41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524500" cy="4365625"/>
          </a:xfrm>
        </p:spPr>
        <p:txBody>
          <a:bodyPr>
            <a:normAutofit/>
          </a:bodyPr>
          <a:lstStyle/>
          <a:p>
            <a:r>
              <a:rPr lang="en-US" noProof="0" dirty="0"/>
              <a:t>Switzerland has the highest share of administered prices in its HCPI compared to other European countries (around 30%)</a:t>
            </a:r>
          </a:p>
          <a:p>
            <a:r>
              <a:rPr lang="en-US" noProof="0" dirty="0"/>
              <a:t>Prices are for example administered for energy (mainly electricity), district heating, pharmaceutical products, public transports…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C1773A12-E532-E22D-F397-70B3FFB0B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35641"/>
            <a:ext cx="5790105" cy="505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531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DAB7C3-C77F-0BC6-59EE-CC2814330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Arguments against an effect of price administration on low inflation in Switzerland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49F7D9-9A0C-DD11-91D7-27EBF65FC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05325" cy="4746624"/>
          </a:xfrm>
        </p:spPr>
        <p:txBody>
          <a:bodyPr/>
          <a:lstStyle/>
          <a:p>
            <a:r>
              <a:rPr lang="en-US" noProof="0" dirty="0"/>
              <a:t>Auer el al. (2025): </a:t>
            </a:r>
            <a:r>
              <a:rPr lang="en-US" noProof="0" dirty="0" err="1"/>
              <a:t>aministered</a:t>
            </a:r>
            <a:r>
              <a:rPr lang="en-US" noProof="0" dirty="0"/>
              <a:t> prices in Switzerland increased less than in the EU, but this is also the case for non- administered prices (figure on the right)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405639E-2EDB-E34B-99A6-16F7C11F2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619" y="1581016"/>
            <a:ext cx="6037538" cy="499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763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D2EF99-AA3A-5E32-4EFF-66634A875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high share of administered prices in Swiss HCPI: an institutional artefact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5CFB37-BF45-3365-3554-44B56731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76875" cy="4765675"/>
          </a:xfrm>
        </p:spPr>
        <p:txBody>
          <a:bodyPr>
            <a:normAutofit/>
          </a:bodyPr>
          <a:lstStyle/>
          <a:p>
            <a:r>
              <a:rPr lang="en-US" noProof="0" dirty="0"/>
              <a:t>Among the 30% share of administered prices (APs) in the Swiss HCPI, around 15% are healthcare products and services</a:t>
            </a:r>
          </a:p>
          <a:p>
            <a:r>
              <a:rPr lang="en-US" noProof="0" dirty="0"/>
              <a:t>This high share of APs, rather than an active policy of price control, rather reflects the peculiar Swiss mandatory health insurance system </a:t>
            </a:r>
            <a:r>
              <a:rPr lang="en-US" noProof="0" dirty="0">
                <a:sym typeface="Wingdings" panose="05000000000000000000" pitchFamily="2" charset="2"/>
              </a:rPr>
              <a:t> Swiss healthcare costs are not covered until a franchise (minimum 300 francs) is reached</a:t>
            </a:r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81D76F-D1E7-52F0-030E-BA860AFE6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075" y="1825624"/>
            <a:ext cx="5413019" cy="421322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AF332491-5A0A-BD5F-46DF-688D16855C9E}"/>
              </a:ext>
            </a:extLst>
          </p:cNvPr>
          <p:cNvSpPr txBox="1"/>
          <p:nvPr/>
        </p:nvSpPr>
        <p:spPr>
          <a:xfrm>
            <a:off x="6630809" y="6038850"/>
            <a:ext cx="4781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Lukas Mergele et al., « </a:t>
            </a:r>
            <a:r>
              <a:rPr lang="en-US" sz="1400" noProof="0" dirty="0" err="1"/>
              <a:t>Administriete</a:t>
            </a:r>
            <a:r>
              <a:rPr lang="en-US" sz="1400" noProof="0" dirty="0"/>
              <a:t> </a:t>
            </a:r>
            <a:r>
              <a:rPr lang="en-US" sz="1400" noProof="0" dirty="0" err="1"/>
              <a:t>Preise</a:t>
            </a:r>
            <a:r>
              <a:rPr lang="en-US" sz="1400" noProof="0" dirty="0"/>
              <a:t> », </a:t>
            </a:r>
            <a:r>
              <a:rPr lang="en-US" sz="1400" noProof="0" dirty="0" err="1"/>
              <a:t>Grundlagen</a:t>
            </a:r>
            <a:r>
              <a:rPr lang="en-US" sz="1400" noProof="0" dirty="0"/>
              <a:t> für die </a:t>
            </a:r>
            <a:r>
              <a:rPr lang="en-US" sz="1400" noProof="0" dirty="0" err="1"/>
              <a:t>Wirtschaftspolitik</a:t>
            </a:r>
            <a:r>
              <a:rPr lang="en-US" sz="1400" noProof="0" dirty="0"/>
              <a:t> (Bern), nᵒ 62 (2026).</a:t>
            </a:r>
          </a:p>
        </p:txBody>
      </p:sp>
    </p:spTree>
    <p:extLst>
      <p:ext uri="{BB962C8B-B14F-4D97-AF65-F5344CB8AC3E}">
        <p14:creationId xmlns:p14="http://schemas.microsoft.com/office/powerpoint/2010/main" val="396227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171E61-9436-8187-27EF-72AA0846B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875" y="0"/>
            <a:ext cx="11995907" cy="1325563"/>
          </a:xfrm>
        </p:spPr>
        <p:txBody>
          <a:bodyPr>
            <a:normAutofit/>
          </a:bodyPr>
          <a:lstStyle/>
          <a:p>
            <a:r>
              <a:rPr lang="en-US" sz="3200" noProof="0" dirty="0"/>
              <a:t>Our approach: the role of price administration in systemically significant sectors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888A120-6F3E-183F-F9EB-7507BD9E36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293" y="1190626"/>
            <a:ext cx="5803143" cy="546735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F475D67-33CE-60FD-1107-DDE081F47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627" y="1190626"/>
            <a:ext cx="6284498" cy="5667374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F1DCE2C-AF91-A832-1571-91AE92F09333}"/>
              </a:ext>
            </a:extLst>
          </p:cNvPr>
          <p:cNvSpPr txBox="1"/>
          <p:nvPr/>
        </p:nvSpPr>
        <p:spPr>
          <a:xfrm>
            <a:off x="2724149" y="956231"/>
            <a:ext cx="7686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Results from a Leontief price model on Swiss input output table (2017)</a:t>
            </a:r>
          </a:p>
        </p:txBody>
      </p:sp>
    </p:spTree>
    <p:extLst>
      <p:ext uri="{BB962C8B-B14F-4D97-AF65-F5344CB8AC3E}">
        <p14:creationId xmlns:p14="http://schemas.microsoft.com/office/powerpoint/2010/main" val="27741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B16F52-C65C-53D9-5505-007C7A9E0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" y="171451"/>
            <a:ext cx="12049125" cy="1533524"/>
          </a:xfrm>
        </p:spPr>
        <p:txBody>
          <a:bodyPr>
            <a:noAutofit/>
          </a:bodyPr>
          <a:lstStyle/>
          <a:p>
            <a:r>
              <a:rPr lang="en-US" sz="3200" noProof="0" dirty="0"/>
              <a:t>Example: Food production, transformation and retail </a:t>
            </a:r>
            <a:r>
              <a:rPr lang="en-US" sz="3200" noProof="0" dirty="0">
                <a:sym typeface="Wingdings" panose="05000000000000000000" pitchFamily="2" charset="2"/>
              </a:rPr>
              <a:t> </a:t>
            </a:r>
            <a:r>
              <a:rPr lang="en-US" sz="3200" noProof="0" dirty="0"/>
              <a:t>interactions between regulations and duopolistic power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C560A5-9546-BF3A-5390-5CBA31E98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704975"/>
            <a:ext cx="5667375" cy="4981574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Swiss food prices are particularly resistant to international shocks</a:t>
            </a:r>
          </a:p>
          <a:p>
            <a:r>
              <a:rPr lang="en-US" noProof="0" dirty="0"/>
              <a:t>This is mainly due to the fact that Swiss food prices are largely sheltered from international fluctuations through indirect price control</a:t>
            </a:r>
          </a:p>
          <a:p>
            <a:pPr lvl="1"/>
            <a:r>
              <a:rPr lang="en-US" noProof="0" dirty="0"/>
              <a:t>Protection of the agricultural sector through import tariff rates quotas and subsidies</a:t>
            </a:r>
          </a:p>
          <a:p>
            <a:r>
              <a:rPr lang="en-US" noProof="0" dirty="0"/>
              <a:t>Food transformation and retail are furthermore controlled by two large cooperatives (Coop &amp; Migros), whose power come from the tradition of protection of the Swiss domestic sector by the state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7F3831F-498B-D045-9DB3-C1D64127F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08" y="1531787"/>
            <a:ext cx="5416679" cy="515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95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6260A4-32EF-4855-E85A-9987D09A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629445"/>
          </a:xfrm>
        </p:spPr>
        <p:txBody>
          <a:bodyPr>
            <a:normAutofit fontScale="90000"/>
          </a:bodyPr>
          <a:lstStyle/>
          <a:p>
            <a:r>
              <a:rPr lang="en-US" sz="4000" noProof="0" dirty="0"/>
              <a:t>Example 2: energy and electricity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0EA4C6-75AA-38F6-2FCF-8D63E43F4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696" y="5143498"/>
            <a:ext cx="11585704" cy="1197084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noProof="0" dirty="0"/>
              <a:t>Switzerland resistance to international energy shocks also come from the combination and complementarity between a well-diversified energy mix, low energy intensity and the fact that electricity supply is not governed by a liberalized market as in the rest of Europe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4F7AA13-D2DF-FF7D-2762-67300451A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487" y="761999"/>
            <a:ext cx="4573892" cy="394991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5E99FE-D876-B59F-8479-3B321FC3F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4611" y="768244"/>
            <a:ext cx="3949903" cy="415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926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8427C2-AA40-D436-25E5-BDCF19617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18255"/>
            <a:ext cx="11163300" cy="972345"/>
          </a:xfrm>
        </p:spPr>
        <p:txBody>
          <a:bodyPr/>
          <a:lstStyle/>
          <a:p>
            <a:r>
              <a:rPr lang="en-US" noProof="0" dirty="0"/>
              <a:t>The socio-political coalition behind price stability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25988D-7CAA-6E99-7E63-570EFCFE4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171575"/>
            <a:ext cx="10820400" cy="5005388"/>
          </a:xfrm>
        </p:spPr>
        <p:txBody>
          <a:bodyPr/>
          <a:lstStyle/>
          <a:p>
            <a:r>
              <a:rPr lang="en-US" noProof="0" dirty="0"/>
              <a:t>Price administration, imports control and the protection of the domestic sectors are often pointed out in Switzerland as responsible for the country's price stability, but at the expense of a very high price level.</a:t>
            </a:r>
          </a:p>
          <a:p>
            <a:r>
              <a:rPr lang="en-US" noProof="0" dirty="0"/>
              <a:t>In the Swiss political economy literature, these regulations are analyzed as the result of a compromise within a "bourgeois bloc" composed by the governing right-wing political parties and the business interest associations (BIAs) of the export-oriented and domestic-oriented industries.</a:t>
            </a:r>
          </a:p>
          <a:p>
            <a:r>
              <a:rPr lang="en-US" noProof="0" dirty="0"/>
              <a:t>The compromise is based on the principle of "external liberalization with domestic compensation"</a:t>
            </a:r>
          </a:p>
        </p:txBody>
      </p:sp>
    </p:spTree>
    <p:extLst>
      <p:ext uri="{BB962C8B-B14F-4D97-AF65-F5344CB8AC3E}">
        <p14:creationId xmlns:p14="http://schemas.microsoft.com/office/powerpoint/2010/main" val="2645277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63893C-7525-7600-6CBE-C7F254724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bourgeois bloc narrative on the Swiss high price island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BBE93D-8799-D8E7-6E73-DEF1556E1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Price stability at the expense of a high price level comes from the domestic compensation measures implemented by the bourgeois bloc to draw the support from domestic-oriented industries which are less competitive than the firms oriented towards international markets</a:t>
            </a:r>
          </a:p>
          <a:p>
            <a:r>
              <a:rPr lang="en-US" noProof="0" dirty="0"/>
              <a:t>However, does the Swiss high price level really come from these regulations ? Sax and Weder (2009) for instance argued that other factors such as the improvements in the Swiss terms of trade (i.e. the success of its exports) are a better explanation</a:t>
            </a:r>
          </a:p>
        </p:txBody>
      </p:sp>
    </p:spTree>
    <p:extLst>
      <p:ext uri="{BB962C8B-B14F-4D97-AF65-F5344CB8AC3E}">
        <p14:creationId xmlns:p14="http://schemas.microsoft.com/office/powerpoint/2010/main" val="2609989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CB3D8-A0D5-A034-7D7E-42EADB611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BB5A8F-C400-6558-F278-6EA99610F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Price administration does play a role for price stability due to their prevalence in sectors with systemically significant prices</a:t>
            </a:r>
          </a:p>
          <a:p>
            <a:r>
              <a:rPr lang="en-US" noProof="0" dirty="0"/>
              <a:t>However, other factors such as Switzerland's low energy intensity, which has improved in the last decades due to favorable structural change, also plays an important role.</a:t>
            </a:r>
          </a:p>
          <a:p>
            <a:r>
              <a:rPr lang="en-US" noProof="0" dirty="0"/>
              <a:t>Further enhancements of the paper</a:t>
            </a:r>
          </a:p>
          <a:p>
            <a:pPr lvl="1"/>
            <a:r>
              <a:rPr lang="en-US" noProof="0" dirty="0"/>
              <a:t>More research is needed on the origins of Switzerland's high price level, beyond the dominant explanation based on the high degree of regulation of the domestic sector</a:t>
            </a:r>
          </a:p>
          <a:p>
            <a:pPr lvl="1"/>
            <a:r>
              <a:rPr lang="en-US" noProof="0" dirty="0"/>
              <a:t>Using domestic output and imports tables from the OECD to simulate shocks more relevant to the research question, especially Switzerland's resistance to international price shocks</a:t>
            </a:r>
          </a:p>
          <a:p>
            <a:pPr lvl="1"/>
            <a:r>
              <a:rPr lang="en-US" noProof="0" dirty="0"/>
              <a:t>Going beyond a simple political coalition (bourgeois bloc) approach and identify the social blocs which support the institutions of the Swiss high price island (for instance through an analysis of social/policy expectations)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6101446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ersonnalisé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842</Words>
  <Application>Microsoft Office PowerPoint</Application>
  <PresentationFormat>Grand écran</PresentationFormat>
  <Paragraphs>47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Garamond</vt:lpstr>
      <vt:lpstr>Wingdings</vt:lpstr>
      <vt:lpstr>Thème Office</vt:lpstr>
      <vt:lpstr>Inflation in an Island of High Prices. The Factors behind Price Stability in Switzerland</vt:lpstr>
      <vt:lpstr>Research Question: why does Switzerland have lower inflation rates and is so resistant to shockflation ?</vt:lpstr>
      <vt:lpstr>Structure of the paper</vt:lpstr>
      <vt:lpstr>The role of price administration</vt:lpstr>
      <vt:lpstr>Arguments against an effect of price administration on low inflation in Switzerland</vt:lpstr>
      <vt:lpstr>The high share of administered prices in Swiss HCPI: an institutional artefact ?</vt:lpstr>
      <vt:lpstr>Our approach: the role of price administration in systemically significant sectors</vt:lpstr>
      <vt:lpstr>Example: Food production, transformation and retail  interactions between regulations and duopolistic power</vt:lpstr>
      <vt:lpstr>Example 2: energy and electricity</vt:lpstr>
      <vt:lpstr>The socio-political coalition behind price stability</vt:lpstr>
      <vt:lpstr>The bourgeois bloc narrative on the Swiss high price island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Celal Güney</dc:creator>
  <cp:lastModifiedBy>Celal Güney</cp:lastModifiedBy>
  <cp:revision>32</cp:revision>
  <dcterms:created xsi:type="dcterms:W3CDTF">2026-09-09T07:58:18Z</dcterms:created>
  <dcterms:modified xsi:type="dcterms:W3CDTF">2026-09-10T13:35:00Z</dcterms:modified>
</cp:coreProperties>
</file>